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Hi everyone. I'm Nilyufar. Brief 02. I'll walk you through INDEX, the regulatory intelligence layer I designed and built a working version of,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glomotec advises on UK immigration. The rules are written for caseworkers, published by the Home Office, and updated every few months without any notice. Most firms read each document once and trust their memory. Almost nobody tracks what changes between versions. That's the gap I'm filling.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INDEX is a regulatory intelligence system. It ingests UK caseworker guidance, breaks it into individual checkable rules, and runs client profiles against them. An advisor sees where the case is strong, where it is weak, what evidence is missing, and when a rule changes which of their clients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The first three modules run on a schedule. CRAWLER fetches every gov.uk caseworker guidance page. EXTRACTOR uses an AI model to turn each rule paragraph into a structured record. CHANGEFEED compares successive versions and surfaces meaningful changes to the operations team. SCORER runs whenever an advisor wants to check a client. EVALUATOR re-tests the system every night to catch regressions before they hit production.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I had three options. Use AI to read the rules and answer questions, like a chatbot. Summarise the rules in plain prose. Or extract each rule into structured data. The first two cannot reliably catch what changes between versions, and a single word inserted into government guidance can invalidate hundreds of applications. Only structured data makes that catchable. So I chose structured. The schema separates the kind of rule from how it is tested, which is what lets the system know that "must be 18 or over" and "must have a viable business" need different kinds of evidence even though both end in a yes or no.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Out-of-the-box AI is dramatically overconfident. The engineering layer produces a probability. The advisor-facing layer translates that into one of four bands, each with a clear action. The bands are calibrated against real Home Office decision rates, so "high" actually correlates with cases that win at the Home Office. Advisors never have to interpret a number. They see a band, they know what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I'll switch to the browser now. Click the Run live pipeline button. You'll see CRAWLER fetch gov.uk live, CHANGEFEED detect drift against the last snapshot, EXTRACTOR pull a criterion through the Claude API. Then I'll score a sample profile and we'll see substantive vs procedural readiness in action. About 90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I tested the system with fictional applicants. One had no business and no endorsement. The system kept saying "mixed signals." Looking inside, I found that criteria like "must be 18 or over" or "must not be on immigration bail" pass for almost everyone, and they were inflating his score. I added a rule that pulls the headline score down whenever a single critical criterion fails, so dealbreakers cannot hide. That insight became a permanent part of the schema and is documented in section six of the framework.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300">
                <a:latin typeface="Helvetica"/>
              </a:rPr>
              <a:t>That's INDEX. The framework PDF and the code are in the repo.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2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F7F5EE"/>
                </a:solidFill>
                <a:latin typeface="Helvetica"/>
              </a:rPr>
              <a:t>glomotec</a:t>
            </a:r>
          </a:p>
        </p:txBody>
      </p:sp>
      <p:sp>
        <p:nvSpPr>
          <p:cNvPr id="3" name="TextBox 2"/>
          <p:cNvSpPr txBox="1"/>
          <p:nvPr/>
        </p:nvSpPr>
        <p:spPr>
          <a:xfrm>
            <a:off x="548640" y="2468880"/>
            <a:ext cx="11091672" cy="365760"/>
          </a:xfrm>
          <a:prstGeom prst="rect">
            <a:avLst/>
          </a:prstGeom>
          <a:noFill/>
        </p:spPr>
        <p:txBody>
          <a:bodyPr wrap="square" lIns="0" rIns="0" tIns="0" bIns="0" anchor="t">
            <a:spAutoFit/>
          </a:bodyPr>
          <a:lstStyle/>
          <a:p>
            <a:pPr algn="ctr">
              <a:lnSpc>
                <a:spcPct val="115000"/>
              </a:lnSpc>
            </a:pPr>
            <a:r>
              <a:rPr sz="1200" b="1" i="0" spc="300">
                <a:solidFill>
                  <a:srgbClr val="6B86A6"/>
                </a:solidFill>
                <a:latin typeface="Helvetica"/>
              </a:rPr>
              <a:t>FRONTIER PROGRAMME  ·  COHORT ONE  ·  BRIEF 02</a:t>
            </a:r>
          </a:p>
        </p:txBody>
      </p:sp>
      <p:sp>
        <p:nvSpPr>
          <p:cNvPr id="4" name="TextBox 3"/>
          <p:cNvSpPr txBox="1"/>
          <p:nvPr/>
        </p:nvSpPr>
        <p:spPr>
          <a:xfrm>
            <a:off x="548640" y="2834640"/>
            <a:ext cx="11091672" cy="1828800"/>
          </a:xfrm>
          <a:prstGeom prst="rect">
            <a:avLst/>
          </a:prstGeom>
          <a:noFill/>
        </p:spPr>
        <p:txBody>
          <a:bodyPr wrap="square" lIns="0" rIns="0" tIns="0" bIns="0" anchor="ctr">
            <a:spAutoFit/>
          </a:bodyPr>
          <a:lstStyle/>
          <a:p>
            <a:pPr algn="ctr">
              <a:lnSpc>
                <a:spcPct val="115000"/>
              </a:lnSpc>
            </a:pPr>
            <a:r>
              <a:rPr sz="12000" b="1" i="0" spc="80">
                <a:solidFill>
                  <a:srgbClr val="F7F5EE"/>
                </a:solidFill>
                <a:latin typeface="Helvetica"/>
              </a:rPr>
              <a:t>INDEX</a:t>
            </a:r>
          </a:p>
        </p:txBody>
      </p:sp>
      <p:sp>
        <p:nvSpPr>
          <p:cNvPr id="5" name="TextBox 4"/>
          <p:cNvSpPr txBox="1"/>
          <p:nvPr/>
        </p:nvSpPr>
        <p:spPr>
          <a:xfrm>
            <a:off x="548640" y="4617720"/>
            <a:ext cx="11091672" cy="548640"/>
          </a:xfrm>
          <a:prstGeom prst="rect">
            <a:avLst/>
          </a:prstGeom>
          <a:noFill/>
        </p:spPr>
        <p:txBody>
          <a:bodyPr wrap="square" lIns="0" rIns="0" tIns="0" bIns="0" anchor="t">
            <a:spAutoFit/>
          </a:bodyPr>
          <a:lstStyle/>
          <a:p>
            <a:pPr algn="ctr">
              <a:lnSpc>
                <a:spcPct val="115000"/>
              </a:lnSpc>
            </a:pPr>
            <a:r>
              <a:rPr sz="2000" b="0" i="0">
                <a:solidFill>
                  <a:srgbClr val="F7F5EE"/>
                </a:solidFill>
                <a:latin typeface="Helvetica"/>
              </a:rPr>
              <a:t>A framework for glomotec's regulatory intelligence layer.</a:t>
            </a:r>
          </a:p>
        </p:txBody>
      </p:sp>
      <p:sp>
        <p:nvSpPr>
          <p:cNvPr id="6" name="TextBox 5"/>
          <p:cNvSpPr txBox="1"/>
          <p:nvPr/>
        </p:nvSpPr>
        <p:spPr>
          <a:xfrm>
            <a:off x="548640" y="6035040"/>
            <a:ext cx="11091672" cy="365760"/>
          </a:xfrm>
          <a:prstGeom prst="rect">
            <a:avLst/>
          </a:prstGeom>
          <a:noFill/>
        </p:spPr>
        <p:txBody>
          <a:bodyPr wrap="square" lIns="0" rIns="0" tIns="0" bIns="0" anchor="t">
            <a:spAutoFit/>
          </a:bodyPr>
          <a:lstStyle/>
          <a:p>
            <a:pPr algn="ctr">
              <a:lnSpc>
                <a:spcPct val="115000"/>
              </a:lnSpc>
            </a:pPr>
            <a:r>
              <a:rPr sz="1300" b="0" i="0">
                <a:solidFill>
                  <a:srgbClr val="6B86A6"/>
                </a:solidFill>
                <a:latin typeface="Helvetica"/>
              </a:rPr>
              <a:t>Nilyufar Shodmonova  ·  5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73152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01  ·  THE PROBLEM</a:t>
            </a:r>
          </a:p>
        </p:txBody>
      </p:sp>
      <p:sp>
        <p:nvSpPr>
          <p:cNvPr id="4" name="TextBox 3"/>
          <p:cNvSpPr txBox="1"/>
          <p:nvPr/>
        </p:nvSpPr>
        <p:spPr>
          <a:xfrm>
            <a:off x="548640" y="1737360"/>
            <a:ext cx="11091672" cy="1280160"/>
          </a:xfrm>
          <a:prstGeom prst="rect">
            <a:avLst/>
          </a:prstGeom>
          <a:noFill/>
        </p:spPr>
        <p:txBody>
          <a:bodyPr wrap="square" lIns="0" rIns="0" tIns="0" bIns="0" anchor="t">
            <a:spAutoFit/>
          </a:bodyPr>
          <a:lstStyle/>
          <a:p>
            <a:pPr algn="l">
              <a:lnSpc>
                <a:spcPct val="115000"/>
              </a:lnSpc>
            </a:pPr>
            <a:r>
              <a:rPr sz="3400" b="1" i="0">
                <a:solidFill>
                  <a:srgbClr val="0B1B2E"/>
                </a:solidFill>
                <a:latin typeface="Helvetica"/>
              </a:rPr>
              <a:t>Advisors read 80-page government documents from memory.</a:t>
            </a:r>
          </a:p>
        </p:txBody>
      </p:sp>
      <p:sp>
        <p:nvSpPr>
          <p:cNvPr id="5" name="TextBox 4"/>
          <p:cNvSpPr txBox="1"/>
          <p:nvPr/>
        </p:nvSpPr>
        <p:spPr>
          <a:xfrm>
            <a:off x="548640" y="3520440"/>
            <a:ext cx="11091672" cy="2926080"/>
          </a:xfrm>
          <a:prstGeom prst="rect">
            <a:avLst/>
          </a:prstGeom>
          <a:noFill/>
        </p:spPr>
        <p:txBody>
          <a:bodyPr wrap="square" lIns="0" rIns="0" tIns="0" bIns="0" anchor="t">
            <a:spAutoFit/>
          </a:bodyPr>
          <a:lstStyle/>
          <a:p>
            <a:pPr algn="l">
              <a:lnSpc>
                <a:spcPct val="155000"/>
              </a:lnSpc>
            </a:pPr>
            <a:r>
              <a:rPr sz="2100" b="0" i="0">
                <a:solidFill>
                  <a:srgbClr val="2C3A55"/>
                </a:solidFill>
                <a:latin typeface="Helvetica"/>
              </a:rPr>
              <a:t>·  The UK Home Office publishes guidance for caseworkers across roughly 18 active immigration routes.</a:t>
            </a:r>
          </a:p>
          <a:p>
            <a:pPr algn="l">
              <a:lnSpc>
                <a:spcPct val="155000"/>
              </a:lnSpc>
            </a:pPr>
            <a:r>
              <a:rPr sz="2100" b="0" i="0">
                <a:solidFill>
                  <a:srgbClr val="2C3A55"/>
                </a:solidFill>
                <a:latin typeface="Helvetica"/>
              </a:rPr>
              <a:t>·  These documents update every 1 to 4 months, without changelogs.</a:t>
            </a:r>
          </a:p>
          <a:p>
            <a:pPr algn="l">
              <a:lnSpc>
                <a:spcPct val="155000"/>
              </a:lnSpc>
            </a:pPr>
            <a:r>
              <a:rPr sz="2100" b="0" i="0">
                <a:solidFill>
                  <a:srgbClr val="2C3A55"/>
                </a:solidFill>
                <a:latin typeface="Helvetica"/>
              </a:rPr>
              <a:t>·  A typical advisor charges between £8,000 and £25,000 per case. Failed applications cost clients time, money, and trust.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73152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02  ·  WHAT I BUILT</a:t>
            </a:r>
          </a:p>
        </p:txBody>
      </p:sp>
      <p:sp>
        <p:nvSpPr>
          <p:cNvPr id="4" name="TextBox 3"/>
          <p:cNvSpPr txBox="1"/>
          <p:nvPr/>
        </p:nvSpPr>
        <p:spPr>
          <a:xfrm>
            <a:off x="548640" y="1737360"/>
            <a:ext cx="11091672" cy="1280160"/>
          </a:xfrm>
          <a:prstGeom prst="rect">
            <a:avLst/>
          </a:prstGeom>
          <a:noFill/>
        </p:spPr>
        <p:txBody>
          <a:bodyPr wrap="square" lIns="0" rIns="0" tIns="0" bIns="0" anchor="t">
            <a:spAutoFit/>
          </a:bodyPr>
          <a:lstStyle/>
          <a:p>
            <a:pPr algn="l">
              <a:lnSpc>
                <a:spcPct val="115000"/>
              </a:lnSpc>
            </a:pPr>
            <a:r>
              <a:rPr sz="3600" b="1" i="0">
                <a:solidFill>
                  <a:srgbClr val="0B1B2E"/>
                </a:solidFill>
                <a:latin typeface="Helvetica"/>
              </a:rPr>
              <a:t>INDEX reads the rules so advisors do not have to.</a:t>
            </a:r>
          </a:p>
        </p:txBody>
      </p:sp>
      <p:sp>
        <p:nvSpPr>
          <p:cNvPr id="5" name="TextBox 4"/>
          <p:cNvSpPr txBox="1"/>
          <p:nvPr/>
        </p:nvSpPr>
        <p:spPr>
          <a:xfrm>
            <a:off x="548640" y="3520440"/>
            <a:ext cx="11091672" cy="2926080"/>
          </a:xfrm>
          <a:prstGeom prst="rect">
            <a:avLst/>
          </a:prstGeom>
          <a:noFill/>
        </p:spPr>
        <p:txBody>
          <a:bodyPr wrap="square" lIns="0" rIns="0" tIns="0" bIns="0" anchor="t">
            <a:spAutoFit/>
          </a:bodyPr>
          <a:lstStyle/>
          <a:p>
            <a:pPr algn="l">
              <a:lnSpc>
                <a:spcPct val="155000"/>
              </a:lnSpc>
            </a:pPr>
            <a:r>
              <a:rPr sz="2200" b="0" i="0">
                <a:solidFill>
                  <a:srgbClr val="2C3A55"/>
                </a:solidFill>
                <a:latin typeface="Helvetica"/>
              </a:rPr>
              <a:t>·  It fetches every government guidance page.</a:t>
            </a:r>
          </a:p>
          <a:p>
            <a:pPr algn="l">
              <a:lnSpc>
                <a:spcPct val="155000"/>
              </a:lnSpc>
            </a:pPr>
            <a:r>
              <a:rPr sz="2200" b="0" i="0">
                <a:solidFill>
                  <a:srgbClr val="2C3A55"/>
                </a:solidFill>
                <a:latin typeface="Helvetica"/>
              </a:rPr>
              <a:t>·  It turns flowing prose into checkable rules.</a:t>
            </a:r>
          </a:p>
          <a:p>
            <a:pPr algn="l">
              <a:lnSpc>
                <a:spcPct val="155000"/>
              </a:lnSpc>
            </a:pPr>
            <a:r>
              <a:rPr sz="2200" b="0" i="0">
                <a:solidFill>
                  <a:srgbClr val="2C3A55"/>
                </a:solidFill>
                <a:latin typeface="Helvetica"/>
              </a:rPr>
              <a:t>·  It scores a client's profile against those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73152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03  ·  HOW IT WORKS</a:t>
            </a:r>
          </a:p>
        </p:txBody>
      </p:sp>
      <p:sp>
        <p:nvSpPr>
          <p:cNvPr id="4" name="TextBox 3"/>
          <p:cNvSpPr txBox="1"/>
          <p:nvPr/>
        </p:nvSpPr>
        <p:spPr>
          <a:xfrm>
            <a:off x="548640" y="1737360"/>
            <a:ext cx="11091672" cy="822960"/>
          </a:xfrm>
          <a:prstGeom prst="rect">
            <a:avLst/>
          </a:prstGeom>
          <a:noFill/>
        </p:spPr>
        <p:txBody>
          <a:bodyPr wrap="square" lIns="0" rIns="0" tIns="0" bIns="0" anchor="t">
            <a:spAutoFit/>
          </a:bodyPr>
          <a:lstStyle/>
          <a:p>
            <a:pPr algn="l">
              <a:lnSpc>
                <a:spcPct val="115000"/>
              </a:lnSpc>
            </a:pPr>
            <a:r>
              <a:rPr sz="3800" b="1" i="0">
                <a:solidFill>
                  <a:srgbClr val="0B1B2E"/>
                </a:solidFill>
                <a:latin typeface="Helvetica"/>
              </a:rPr>
              <a:t>Five steps. One pipeline.</a:t>
            </a:r>
          </a:p>
        </p:txBody>
      </p:sp>
      <p:cxnSp>
        <p:nvCxnSpPr>
          <p:cNvPr id="5" name="Connector 4"/>
          <p:cNvCxnSpPr/>
          <p:nvPr/>
        </p:nvCxnSpPr>
        <p:spPr>
          <a:xfrm>
            <a:off x="2331720" y="3657600"/>
            <a:ext cx="544754" cy="0"/>
          </a:xfrm>
          <a:prstGeom prst="line">
            <a:avLst/>
          </a:prstGeom>
          <a:ln w="19050">
            <a:solidFill>
              <a:srgbClr val="4A88E5"/>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659554" y="3657600"/>
            <a:ext cx="544754" cy="0"/>
          </a:xfrm>
          <a:prstGeom prst="line">
            <a:avLst/>
          </a:prstGeom>
          <a:ln w="19050">
            <a:solidFill>
              <a:srgbClr val="4A88E5"/>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87388" y="3657600"/>
            <a:ext cx="544753" cy="0"/>
          </a:xfrm>
          <a:prstGeom prst="line">
            <a:avLst/>
          </a:prstGeom>
          <a:ln w="19050">
            <a:solidFill>
              <a:srgbClr val="4A88E5"/>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315221" y="3657600"/>
            <a:ext cx="544754" cy="0"/>
          </a:xfrm>
          <a:prstGeom prst="line">
            <a:avLst/>
          </a:prstGeom>
          <a:ln w="19050">
            <a:solidFill>
              <a:srgbClr val="4A88E5"/>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3154680"/>
            <a:ext cx="1783080" cy="1005840"/>
          </a:xfrm>
          <a:prstGeom prst="roundRect">
            <a:avLst>
              <a:gd name="adj" fmla="val 10000"/>
            </a:avLst>
          </a:prstGeom>
          <a:solidFill>
            <a:srgbClr val="EEF3FB"/>
          </a:solidFill>
          <a:ln w="1143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447288"/>
            <a:ext cx="1783080" cy="457200"/>
          </a:xfrm>
          <a:prstGeom prst="rect">
            <a:avLst/>
          </a:prstGeom>
          <a:noFill/>
        </p:spPr>
        <p:txBody>
          <a:bodyPr wrap="square" lIns="0" rIns="0" tIns="0" bIns="0" anchor="t">
            <a:spAutoFit/>
          </a:bodyPr>
          <a:lstStyle/>
          <a:p>
            <a:pPr algn="ctr">
              <a:lnSpc>
                <a:spcPct val="115000"/>
              </a:lnSpc>
            </a:pPr>
            <a:r>
              <a:rPr sz="1400" b="1" i="0" spc="120">
                <a:solidFill>
                  <a:srgbClr val="4A88E5"/>
                </a:solidFill>
                <a:latin typeface="Helvetica"/>
              </a:rPr>
              <a:t>CRAWLER</a:t>
            </a:r>
          </a:p>
        </p:txBody>
      </p:sp>
      <p:sp>
        <p:nvSpPr>
          <p:cNvPr id="11" name="TextBox 10"/>
          <p:cNvSpPr txBox="1"/>
          <p:nvPr/>
        </p:nvSpPr>
        <p:spPr>
          <a:xfrm>
            <a:off x="548640" y="4297680"/>
            <a:ext cx="1783080" cy="1005840"/>
          </a:xfrm>
          <a:prstGeom prst="rect">
            <a:avLst/>
          </a:prstGeom>
          <a:noFill/>
        </p:spPr>
        <p:txBody>
          <a:bodyPr wrap="square" lIns="0" rIns="0" tIns="0" bIns="0" anchor="t">
            <a:spAutoFit/>
          </a:bodyPr>
          <a:lstStyle/>
          <a:p>
            <a:pPr algn="ctr">
              <a:lnSpc>
                <a:spcPct val="130000"/>
              </a:lnSpc>
            </a:pPr>
            <a:r>
              <a:rPr sz="1200" b="0" i="1">
                <a:solidFill>
                  <a:srgbClr val="4A5570"/>
                </a:solidFill>
                <a:latin typeface="Helvetica"/>
              </a:rPr>
              <a:t>fetches the rules</a:t>
            </a:r>
          </a:p>
          <a:p>
            <a:pPr algn="ctr">
              <a:lnSpc>
                <a:spcPct val="130000"/>
              </a:lnSpc>
            </a:pPr>
            <a:r>
              <a:rPr sz="1200" b="0" i="1">
                <a:solidFill>
                  <a:srgbClr val="4A5570"/>
                </a:solidFill>
                <a:latin typeface="Helvetica"/>
              </a:rPr>
              <a:t>from gov.uk</a:t>
            </a:r>
          </a:p>
        </p:txBody>
      </p:sp>
      <p:sp>
        <p:nvSpPr>
          <p:cNvPr id="12" name="Rounded Rectangle 11"/>
          <p:cNvSpPr/>
          <p:nvPr/>
        </p:nvSpPr>
        <p:spPr>
          <a:xfrm>
            <a:off x="2876474" y="3154680"/>
            <a:ext cx="1783080" cy="1005840"/>
          </a:xfrm>
          <a:prstGeom prst="roundRect">
            <a:avLst>
              <a:gd name="adj" fmla="val 10000"/>
            </a:avLst>
          </a:prstGeom>
          <a:solidFill>
            <a:srgbClr val="EEF3FB"/>
          </a:solidFill>
          <a:ln w="1143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76474" y="3447288"/>
            <a:ext cx="1783080" cy="457200"/>
          </a:xfrm>
          <a:prstGeom prst="rect">
            <a:avLst/>
          </a:prstGeom>
          <a:noFill/>
        </p:spPr>
        <p:txBody>
          <a:bodyPr wrap="square" lIns="0" rIns="0" tIns="0" bIns="0" anchor="t">
            <a:spAutoFit/>
          </a:bodyPr>
          <a:lstStyle/>
          <a:p>
            <a:pPr algn="ctr">
              <a:lnSpc>
                <a:spcPct val="115000"/>
              </a:lnSpc>
            </a:pPr>
            <a:r>
              <a:rPr sz="1400" b="1" i="0" spc="120">
                <a:solidFill>
                  <a:srgbClr val="4A88E5"/>
                </a:solidFill>
                <a:latin typeface="Helvetica"/>
              </a:rPr>
              <a:t>EXTRACTOR</a:t>
            </a:r>
          </a:p>
        </p:txBody>
      </p:sp>
      <p:sp>
        <p:nvSpPr>
          <p:cNvPr id="14" name="TextBox 13"/>
          <p:cNvSpPr txBox="1"/>
          <p:nvPr/>
        </p:nvSpPr>
        <p:spPr>
          <a:xfrm>
            <a:off x="2876474" y="4297680"/>
            <a:ext cx="1783080" cy="1005840"/>
          </a:xfrm>
          <a:prstGeom prst="rect">
            <a:avLst/>
          </a:prstGeom>
          <a:noFill/>
        </p:spPr>
        <p:txBody>
          <a:bodyPr wrap="square" lIns="0" rIns="0" tIns="0" bIns="0" anchor="t">
            <a:spAutoFit/>
          </a:bodyPr>
          <a:lstStyle/>
          <a:p>
            <a:pPr algn="ctr">
              <a:lnSpc>
                <a:spcPct val="130000"/>
              </a:lnSpc>
            </a:pPr>
            <a:r>
              <a:rPr sz="1200" b="0" i="1">
                <a:solidFill>
                  <a:srgbClr val="4A5570"/>
                </a:solidFill>
                <a:latin typeface="Helvetica"/>
              </a:rPr>
              <a:t>turns prose into</a:t>
            </a:r>
          </a:p>
          <a:p>
            <a:pPr algn="ctr">
              <a:lnSpc>
                <a:spcPct val="130000"/>
              </a:lnSpc>
            </a:pPr>
            <a:r>
              <a:rPr sz="1200" b="0" i="1">
                <a:solidFill>
                  <a:srgbClr val="4A5570"/>
                </a:solidFill>
                <a:latin typeface="Helvetica"/>
              </a:rPr>
              <a:t>structured rules</a:t>
            </a:r>
          </a:p>
        </p:txBody>
      </p:sp>
      <p:sp>
        <p:nvSpPr>
          <p:cNvPr id="15" name="Rounded Rectangle 14"/>
          <p:cNvSpPr/>
          <p:nvPr/>
        </p:nvSpPr>
        <p:spPr>
          <a:xfrm>
            <a:off x="5204308" y="3154680"/>
            <a:ext cx="1783080" cy="1005840"/>
          </a:xfrm>
          <a:prstGeom prst="roundRect">
            <a:avLst>
              <a:gd name="adj" fmla="val 10000"/>
            </a:avLst>
          </a:prstGeom>
          <a:solidFill>
            <a:srgbClr val="EEF3FB"/>
          </a:solidFill>
          <a:ln w="1143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4308" y="3447288"/>
            <a:ext cx="1783080" cy="457200"/>
          </a:xfrm>
          <a:prstGeom prst="rect">
            <a:avLst/>
          </a:prstGeom>
          <a:noFill/>
        </p:spPr>
        <p:txBody>
          <a:bodyPr wrap="square" lIns="0" rIns="0" tIns="0" bIns="0" anchor="t">
            <a:spAutoFit/>
          </a:bodyPr>
          <a:lstStyle/>
          <a:p>
            <a:pPr algn="ctr">
              <a:lnSpc>
                <a:spcPct val="115000"/>
              </a:lnSpc>
            </a:pPr>
            <a:r>
              <a:rPr sz="1400" b="1" i="0" spc="120">
                <a:solidFill>
                  <a:srgbClr val="4A88E5"/>
                </a:solidFill>
                <a:latin typeface="Helvetica"/>
              </a:rPr>
              <a:t>CHANGEFEED</a:t>
            </a:r>
          </a:p>
        </p:txBody>
      </p:sp>
      <p:sp>
        <p:nvSpPr>
          <p:cNvPr id="17" name="TextBox 16"/>
          <p:cNvSpPr txBox="1"/>
          <p:nvPr/>
        </p:nvSpPr>
        <p:spPr>
          <a:xfrm>
            <a:off x="5204308" y="4297680"/>
            <a:ext cx="1783080" cy="1005840"/>
          </a:xfrm>
          <a:prstGeom prst="rect">
            <a:avLst/>
          </a:prstGeom>
          <a:noFill/>
        </p:spPr>
        <p:txBody>
          <a:bodyPr wrap="square" lIns="0" rIns="0" tIns="0" bIns="0" anchor="t">
            <a:spAutoFit/>
          </a:bodyPr>
          <a:lstStyle/>
          <a:p>
            <a:pPr algn="ctr">
              <a:lnSpc>
                <a:spcPct val="130000"/>
              </a:lnSpc>
            </a:pPr>
            <a:r>
              <a:rPr sz="1200" b="0" i="1">
                <a:solidFill>
                  <a:srgbClr val="4A5570"/>
                </a:solidFill>
                <a:latin typeface="Helvetica"/>
              </a:rPr>
              <a:t>detects what</a:t>
            </a:r>
          </a:p>
          <a:p>
            <a:pPr algn="ctr">
              <a:lnSpc>
                <a:spcPct val="130000"/>
              </a:lnSpc>
            </a:pPr>
            <a:r>
              <a:rPr sz="1200" b="0" i="1">
                <a:solidFill>
                  <a:srgbClr val="4A5570"/>
                </a:solidFill>
                <a:latin typeface="Helvetica"/>
              </a:rPr>
              <a:t>changed between versions</a:t>
            </a:r>
          </a:p>
        </p:txBody>
      </p:sp>
      <p:sp>
        <p:nvSpPr>
          <p:cNvPr id="18" name="Rounded Rectangle 17"/>
          <p:cNvSpPr/>
          <p:nvPr/>
        </p:nvSpPr>
        <p:spPr>
          <a:xfrm>
            <a:off x="7532141" y="3154680"/>
            <a:ext cx="1783080" cy="1005840"/>
          </a:xfrm>
          <a:prstGeom prst="roundRect">
            <a:avLst>
              <a:gd name="adj" fmla="val 10000"/>
            </a:avLst>
          </a:prstGeom>
          <a:solidFill>
            <a:srgbClr val="EEF3FB"/>
          </a:solidFill>
          <a:ln w="1143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32141" y="3447288"/>
            <a:ext cx="1783080" cy="457200"/>
          </a:xfrm>
          <a:prstGeom prst="rect">
            <a:avLst/>
          </a:prstGeom>
          <a:noFill/>
        </p:spPr>
        <p:txBody>
          <a:bodyPr wrap="square" lIns="0" rIns="0" tIns="0" bIns="0" anchor="t">
            <a:spAutoFit/>
          </a:bodyPr>
          <a:lstStyle/>
          <a:p>
            <a:pPr algn="ctr">
              <a:lnSpc>
                <a:spcPct val="115000"/>
              </a:lnSpc>
            </a:pPr>
            <a:r>
              <a:rPr sz="1400" b="1" i="0" spc="120">
                <a:solidFill>
                  <a:srgbClr val="4A88E5"/>
                </a:solidFill>
                <a:latin typeface="Helvetica"/>
              </a:rPr>
              <a:t>SCORER</a:t>
            </a:r>
          </a:p>
        </p:txBody>
      </p:sp>
      <p:sp>
        <p:nvSpPr>
          <p:cNvPr id="20" name="TextBox 19"/>
          <p:cNvSpPr txBox="1"/>
          <p:nvPr/>
        </p:nvSpPr>
        <p:spPr>
          <a:xfrm>
            <a:off x="7532141" y="4297680"/>
            <a:ext cx="1783080" cy="1005840"/>
          </a:xfrm>
          <a:prstGeom prst="rect">
            <a:avLst/>
          </a:prstGeom>
          <a:noFill/>
        </p:spPr>
        <p:txBody>
          <a:bodyPr wrap="square" lIns="0" rIns="0" tIns="0" bIns="0" anchor="t">
            <a:spAutoFit/>
          </a:bodyPr>
          <a:lstStyle/>
          <a:p>
            <a:pPr algn="ctr">
              <a:lnSpc>
                <a:spcPct val="130000"/>
              </a:lnSpc>
            </a:pPr>
            <a:r>
              <a:rPr sz="1200" b="0" i="1">
                <a:solidFill>
                  <a:srgbClr val="4A5570"/>
                </a:solidFill>
                <a:latin typeface="Helvetica"/>
              </a:rPr>
              <a:t>scores a client</a:t>
            </a:r>
          </a:p>
          <a:p>
            <a:pPr algn="ctr">
              <a:lnSpc>
                <a:spcPct val="130000"/>
              </a:lnSpc>
            </a:pPr>
            <a:r>
              <a:rPr sz="1200" b="0" i="1">
                <a:solidFill>
                  <a:srgbClr val="4A5570"/>
                </a:solidFill>
                <a:latin typeface="Helvetica"/>
              </a:rPr>
              <a:t>against the rules</a:t>
            </a:r>
          </a:p>
        </p:txBody>
      </p:sp>
      <p:sp>
        <p:nvSpPr>
          <p:cNvPr id="21" name="Rounded Rectangle 20"/>
          <p:cNvSpPr/>
          <p:nvPr/>
        </p:nvSpPr>
        <p:spPr>
          <a:xfrm>
            <a:off x="9859975" y="3154680"/>
            <a:ext cx="1783080" cy="1005840"/>
          </a:xfrm>
          <a:prstGeom prst="roundRect">
            <a:avLst>
              <a:gd name="adj" fmla="val 10000"/>
            </a:avLst>
          </a:prstGeom>
          <a:solidFill>
            <a:srgbClr val="EEF3FB"/>
          </a:solidFill>
          <a:ln w="1143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59975" y="3447288"/>
            <a:ext cx="1783080" cy="457200"/>
          </a:xfrm>
          <a:prstGeom prst="rect">
            <a:avLst/>
          </a:prstGeom>
          <a:noFill/>
        </p:spPr>
        <p:txBody>
          <a:bodyPr wrap="square" lIns="0" rIns="0" tIns="0" bIns="0" anchor="t">
            <a:spAutoFit/>
          </a:bodyPr>
          <a:lstStyle/>
          <a:p>
            <a:pPr algn="ctr">
              <a:lnSpc>
                <a:spcPct val="115000"/>
              </a:lnSpc>
            </a:pPr>
            <a:r>
              <a:rPr sz="1400" b="1" i="0" spc="120">
                <a:solidFill>
                  <a:srgbClr val="4A88E5"/>
                </a:solidFill>
                <a:latin typeface="Helvetica"/>
              </a:rPr>
              <a:t>EVALUATOR</a:t>
            </a:r>
          </a:p>
        </p:txBody>
      </p:sp>
      <p:sp>
        <p:nvSpPr>
          <p:cNvPr id="23" name="TextBox 22"/>
          <p:cNvSpPr txBox="1"/>
          <p:nvPr/>
        </p:nvSpPr>
        <p:spPr>
          <a:xfrm>
            <a:off x="9859975" y="4297680"/>
            <a:ext cx="1783080" cy="1005840"/>
          </a:xfrm>
          <a:prstGeom prst="rect">
            <a:avLst/>
          </a:prstGeom>
          <a:noFill/>
        </p:spPr>
        <p:txBody>
          <a:bodyPr wrap="square" lIns="0" rIns="0" tIns="0" bIns="0" anchor="t">
            <a:spAutoFit/>
          </a:bodyPr>
          <a:lstStyle/>
          <a:p>
            <a:pPr algn="ctr">
              <a:lnSpc>
                <a:spcPct val="130000"/>
              </a:lnSpc>
            </a:pPr>
            <a:r>
              <a:rPr sz="1200" b="0" i="1">
                <a:solidFill>
                  <a:srgbClr val="4A5570"/>
                </a:solidFill>
                <a:latin typeface="Helvetica"/>
              </a:rPr>
              <a:t>keeps the system</a:t>
            </a:r>
          </a:p>
          <a:p>
            <a:pPr algn="ctr">
              <a:lnSpc>
                <a:spcPct val="130000"/>
              </a:lnSpc>
            </a:pPr>
            <a:r>
              <a:rPr sz="1200" b="0" i="1">
                <a:solidFill>
                  <a:srgbClr val="4A5570"/>
                </a:solidFill>
                <a:latin typeface="Helvetica"/>
              </a:rPr>
              <a:t>itself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91440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04  ·  THE BIGGEST DECISION</a:t>
            </a:r>
          </a:p>
        </p:txBody>
      </p:sp>
      <p:sp>
        <p:nvSpPr>
          <p:cNvPr id="4" name="TextBox 3"/>
          <p:cNvSpPr txBox="1"/>
          <p:nvPr/>
        </p:nvSpPr>
        <p:spPr>
          <a:xfrm>
            <a:off x="548640" y="1737360"/>
            <a:ext cx="11091672" cy="822960"/>
          </a:xfrm>
          <a:prstGeom prst="rect">
            <a:avLst/>
          </a:prstGeom>
          <a:noFill/>
        </p:spPr>
        <p:txBody>
          <a:bodyPr wrap="square" lIns="0" rIns="0" tIns="0" bIns="0" anchor="t">
            <a:spAutoFit/>
          </a:bodyPr>
          <a:lstStyle/>
          <a:p>
            <a:pPr algn="l">
              <a:lnSpc>
                <a:spcPct val="115000"/>
              </a:lnSpc>
            </a:pPr>
            <a:r>
              <a:rPr sz="4000" b="1" i="0">
                <a:solidFill>
                  <a:srgbClr val="0B1B2E"/>
                </a:solidFill>
                <a:latin typeface="Helvetica"/>
              </a:rPr>
              <a:t>Store rules as data, not as text.</a:t>
            </a:r>
          </a:p>
        </p:txBody>
      </p:sp>
      <p:sp>
        <p:nvSpPr>
          <p:cNvPr id="5" name="Rounded Rectangle 4"/>
          <p:cNvSpPr/>
          <p:nvPr/>
        </p:nvSpPr>
        <p:spPr>
          <a:xfrm>
            <a:off x="548640" y="3108960"/>
            <a:ext cx="5364328" cy="2468880"/>
          </a:xfrm>
          <a:prstGeom prst="roundRect">
            <a:avLst>
              <a:gd name="adj" fmla="val 10000"/>
            </a:avLst>
          </a:prstGeom>
          <a:solidFill>
            <a:srgbClr val="F7F5EE"/>
          </a:solidFill>
          <a:ln w="9525">
            <a:solidFill>
              <a:srgbClr val="6B86A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337560"/>
            <a:ext cx="4632808"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TEXT</a:t>
            </a:r>
          </a:p>
        </p:txBody>
      </p:sp>
      <p:sp>
        <p:nvSpPr>
          <p:cNvPr id="7" name="TextBox 6"/>
          <p:cNvSpPr txBox="1"/>
          <p:nvPr/>
        </p:nvSpPr>
        <p:spPr>
          <a:xfrm>
            <a:off x="914400" y="3886200"/>
            <a:ext cx="4632808" cy="1463040"/>
          </a:xfrm>
          <a:prstGeom prst="rect">
            <a:avLst/>
          </a:prstGeom>
          <a:noFill/>
        </p:spPr>
        <p:txBody>
          <a:bodyPr wrap="square" lIns="0" rIns="0" tIns="0" bIns="0" anchor="t">
            <a:spAutoFit/>
          </a:bodyPr>
          <a:lstStyle/>
          <a:p>
            <a:pPr algn="l">
              <a:lnSpc>
                <a:spcPct val="140000"/>
              </a:lnSpc>
            </a:pPr>
            <a:r>
              <a:rPr sz="1800" b="0" i="1">
                <a:solidFill>
                  <a:srgbClr val="2C3A55"/>
                </a:solidFill>
                <a:latin typeface="Helvetica"/>
              </a:rPr>
              <a:t>“An applicant must be 18 or over and must have endorsement from an approved body.”</a:t>
            </a:r>
          </a:p>
        </p:txBody>
      </p:sp>
      <p:sp>
        <p:nvSpPr>
          <p:cNvPr id="8" name="Rounded Rectangle 7"/>
          <p:cNvSpPr/>
          <p:nvPr/>
        </p:nvSpPr>
        <p:spPr>
          <a:xfrm>
            <a:off x="6278728" y="3108960"/>
            <a:ext cx="5364328" cy="2468880"/>
          </a:xfrm>
          <a:prstGeom prst="roundRect">
            <a:avLst>
              <a:gd name="adj" fmla="val 10000"/>
            </a:avLst>
          </a:prstGeom>
          <a:solidFill>
            <a:srgbClr val="EEF3FB"/>
          </a:solidFill>
          <a:ln w="1270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44488" y="3337560"/>
            <a:ext cx="4632808" cy="320040"/>
          </a:xfrm>
          <a:prstGeom prst="rect">
            <a:avLst/>
          </a:prstGeom>
          <a:noFill/>
        </p:spPr>
        <p:txBody>
          <a:bodyPr wrap="square" lIns="0" rIns="0" tIns="0" bIns="0" anchor="t">
            <a:spAutoFit/>
          </a:bodyPr>
          <a:lstStyle/>
          <a:p>
            <a:pPr algn="l">
              <a:lnSpc>
                <a:spcPct val="115000"/>
              </a:lnSpc>
            </a:pPr>
            <a:r>
              <a:rPr sz="1100" b="1" i="0" spc="200">
                <a:solidFill>
                  <a:srgbClr val="4A88E5"/>
                </a:solidFill>
                <a:latin typeface="Helvetica"/>
              </a:rPr>
              <a:t>STRUCTURED</a:t>
            </a:r>
          </a:p>
        </p:txBody>
      </p:sp>
      <p:sp>
        <p:nvSpPr>
          <p:cNvPr id="10" name="TextBox 9"/>
          <p:cNvSpPr txBox="1"/>
          <p:nvPr/>
        </p:nvSpPr>
        <p:spPr>
          <a:xfrm>
            <a:off x="6644488" y="3840480"/>
            <a:ext cx="4632808" cy="1554480"/>
          </a:xfrm>
          <a:prstGeom prst="rect">
            <a:avLst/>
          </a:prstGeom>
          <a:noFill/>
        </p:spPr>
        <p:txBody>
          <a:bodyPr wrap="square" lIns="0" rIns="0" tIns="0" bIns="0" anchor="t">
            <a:spAutoFit/>
          </a:bodyPr>
          <a:lstStyle/>
          <a:p>
            <a:pPr algn="l">
              <a:lnSpc>
                <a:spcPct val="145000"/>
              </a:lnSpc>
            </a:pPr>
            <a:r>
              <a:rPr sz="1500" b="0" i="0">
                <a:solidFill>
                  <a:srgbClr val="2C3A55"/>
                </a:solidFill>
                <a:latin typeface="Helvetica"/>
              </a:rPr>
              <a:t>Two separate rules. Each tagged with:</a:t>
            </a:r>
          </a:p>
          <a:p>
            <a:pPr algn="l">
              <a:lnSpc>
                <a:spcPct val="145000"/>
              </a:lnSpc>
            </a:pPr>
            <a:r>
              <a:rPr sz="1500" b="0" i="0">
                <a:solidFill>
                  <a:srgbClr val="2C3A55"/>
                </a:solidFill>
                <a:latin typeface="Helvetica"/>
              </a:rPr>
              <a:t>·  who must satisfy it</a:t>
            </a:r>
          </a:p>
          <a:p>
            <a:pPr algn="l">
              <a:lnSpc>
                <a:spcPct val="145000"/>
              </a:lnSpc>
            </a:pPr>
            <a:r>
              <a:rPr sz="1500" b="0" i="0">
                <a:solidFill>
                  <a:srgbClr val="2C3A55"/>
                </a:solidFill>
                <a:latin typeface="Helvetica"/>
              </a:rPr>
              <a:t>·  what evidence proves it</a:t>
            </a:r>
          </a:p>
          <a:p>
            <a:pPr algn="l">
              <a:lnSpc>
                <a:spcPct val="145000"/>
              </a:lnSpc>
            </a:pPr>
            <a:r>
              <a:rPr sz="1500" b="0" i="0">
                <a:solidFill>
                  <a:srgbClr val="2C3A55"/>
                </a:solidFill>
                <a:latin typeface="Helvetica"/>
              </a:rPr>
              <a:t>·  what the threshold is</a:t>
            </a:r>
          </a:p>
          <a:p>
            <a:pPr algn="l">
              <a:lnSpc>
                <a:spcPct val="145000"/>
              </a:lnSpc>
            </a:pPr>
            <a:r>
              <a:rPr sz="1500" b="0" i="0">
                <a:solidFill>
                  <a:srgbClr val="2C3A55"/>
                </a:solidFill>
                <a:latin typeface="Helvetica"/>
              </a:rPr>
              <a:t>·  what stage of the journey it applies at</a:t>
            </a:r>
          </a:p>
        </p:txBody>
      </p:sp>
      <p:sp>
        <p:nvSpPr>
          <p:cNvPr id="11" name="TextBox 10"/>
          <p:cNvSpPr txBox="1"/>
          <p:nvPr/>
        </p:nvSpPr>
        <p:spPr>
          <a:xfrm>
            <a:off x="548640" y="5989320"/>
            <a:ext cx="11091672" cy="502920"/>
          </a:xfrm>
          <a:prstGeom prst="rect">
            <a:avLst/>
          </a:prstGeom>
          <a:noFill/>
        </p:spPr>
        <p:txBody>
          <a:bodyPr wrap="square" lIns="0" rIns="0" tIns="0" bIns="0" anchor="t">
            <a:spAutoFit/>
          </a:bodyPr>
          <a:lstStyle/>
          <a:p>
            <a:pPr algn="ctr">
              <a:lnSpc>
                <a:spcPct val="115000"/>
              </a:lnSpc>
            </a:pPr>
            <a:r>
              <a:rPr sz="1400" b="0" i="0">
                <a:solidFill>
                  <a:srgbClr val="4A5570"/>
                </a:solidFill>
                <a:latin typeface="Helvetica"/>
              </a:rPr>
              <a:t>Text can be read. Only structure can be checked, compared across versions, and updated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73152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05  ·  HOW SCORING WORKS</a:t>
            </a:r>
          </a:p>
        </p:txBody>
      </p:sp>
      <p:sp>
        <p:nvSpPr>
          <p:cNvPr id="4" name="TextBox 3"/>
          <p:cNvSpPr txBox="1"/>
          <p:nvPr/>
        </p:nvSpPr>
        <p:spPr>
          <a:xfrm>
            <a:off x="548640" y="1737360"/>
            <a:ext cx="11091672" cy="1280160"/>
          </a:xfrm>
          <a:prstGeom prst="rect">
            <a:avLst/>
          </a:prstGeom>
          <a:noFill/>
        </p:spPr>
        <p:txBody>
          <a:bodyPr wrap="square" lIns="0" rIns="0" tIns="0" bIns="0" anchor="t">
            <a:spAutoFit/>
          </a:bodyPr>
          <a:lstStyle/>
          <a:p>
            <a:pPr algn="l">
              <a:lnSpc>
                <a:spcPct val="115000"/>
              </a:lnSpc>
            </a:pPr>
            <a:r>
              <a:rPr sz="3400" b="1" i="0">
                <a:solidFill>
                  <a:srgbClr val="0B1B2E"/>
                </a:solidFill>
                <a:latin typeface="Helvetica"/>
              </a:rPr>
              <a:t>We do not show numbers. We show recommendations.</a:t>
            </a:r>
          </a:p>
        </p:txBody>
      </p:sp>
      <p:sp>
        <p:nvSpPr>
          <p:cNvPr id="5" name="Rectangle 4"/>
          <p:cNvSpPr/>
          <p:nvPr/>
        </p:nvSpPr>
        <p:spPr>
          <a:xfrm>
            <a:off x="548640" y="3749039"/>
            <a:ext cx="2773604" cy="777240"/>
          </a:xfrm>
          <a:prstGeom prst="rect">
            <a:avLst/>
          </a:prstGeom>
          <a:solidFill>
            <a:srgbClr val="F2DEDB"/>
          </a:solidFill>
          <a:ln w="6350">
            <a:solidFill>
              <a:srgbClr val="A237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913631"/>
            <a:ext cx="2773604" cy="411480"/>
          </a:xfrm>
          <a:prstGeom prst="rect">
            <a:avLst/>
          </a:prstGeom>
          <a:noFill/>
        </p:spPr>
        <p:txBody>
          <a:bodyPr wrap="square" lIns="0" rIns="0" tIns="0" bIns="0" anchor="t">
            <a:spAutoFit/>
          </a:bodyPr>
          <a:lstStyle/>
          <a:p>
            <a:pPr algn="ctr">
              <a:lnSpc>
                <a:spcPct val="115000"/>
              </a:lnSpc>
            </a:pPr>
            <a:r>
              <a:rPr sz="1200" b="1" i="0" spc="200">
                <a:solidFill>
                  <a:srgbClr val="A23710"/>
                </a:solidFill>
                <a:latin typeface="Helvetica"/>
              </a:rPr>
              <a:t>BELOW THRESHOLD</a:t>
            </a:r>
          </a:p>
        </p:txBody>
      </p:sp>
      <p:sp>
        <p:nvSpPr>
          <p:cNvPr id="7" name="TextBox 6"/>
          <p:cNvSpPr txBox="1"/>
          <p:nvPr/>
        </p:nvSpPr>
        <p:spPr>
          <a:xfrm>
            <a:off x="548640" y="4690871"/>
            <a:ext cx="2773604" cy="365760"/>
          </a:xfrm>
          <a:prstGeom prst="rect">
            <a:avLst/>
          </a:prstGeom>
          <a:noFill/>
        </p:spPr>
        <p:txBody>
          <a:bodyPr wrap="square" lIns="0" rIns="0" tIns="0" bIns="0" anchor="t">
            <a:spAutoFit/>
          </a:bodyPr>
          <a:lstStyle/>
          <a:p>
            <a:pPr algn="ctr">
              <a:lnSpc>
                <a:spcPct val="115000"/>
              </a:lnSpc>
            </a:pPr>
            <a:r>
              <a:rPr sz="1400" b="1" i="0">
                <a:solidFill>
                  <a:srgbClr val="2C3A55"/>
                </a:solidFill>
                <a:latin typeface="Helvetica"/>
              </a:rPr>
              <a:t>Do not submit</a:t>
            </a:r>
          </a:p>
        </p:txBody>
      </p:sp>
      <p:sp>
        <p:nvSpPr>
          <p:cNvPr id="8" name="Rectangle 7"/>
          <p:cNvSpPr/>
          <p:nvPr/>
        </p:nvSpPr>
        <p:spPr>
          <a:xfrm>
            <a:off x="3322244" y="3749039"/>
            <a:ext cx="2773604" cy="777240"/>
          </a:xfrm>
          <a:prstGeom prst="rect">
            <a:avLst/>
          </a:prstGeom>
          <a:solidFill>
            <a:srgbClr val="FFEAD3"/>
          </a:solidFill>
          <a:ln w="6350">
            <a:solidFill>
              <a:srgbClr val="7661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22244" y="3913631"/>
            <a:ext cx="2773604" cy="411480"/>
          </a:xfrm>
          <a:prstGeom prst="rect">
            <a:avLst/>
          </a:prstGeom>
          <a:noFill/>
        </p:spPr>
        <p:txBody>
          <a:bodyPr wrap="square" lIns="0" rIns="0" tIns="0" bIns="0" anchor="t">
            <a:spAutoFit/>
          </a:bodyPr>
          <a:lstStyle/>
          <a:p>
            <a:pPr algn="ctr">
              <a:lnSpc>
                <a:spcPct val="115000"/>
              </a:lnSpc>
            </a:pPr>
            <a:r>
              <a:rPr sz="1200" b="1" i="0" spc="200">
                <a:solidFill>
                  <a:srgbClr val="76610C"/>
                </a:solidFill>
                <a:latin typeface="Helvetica"/>
              </a:rPr>
              <a:t>LOW</a:t>
            </a:r>
          </a:p>
        </p:txBody>
      </p:sp>
      <p:sp>
        <p:nvSpPr>
          <p:cNvPr id="10" name="TextBox 9"/>
          <p:cNvSpPr txBox="1"/>
          <p:nvPr/>
        </p:nvSpPr>
        <p:spPr>
          <a:xfrm>
            <a:off x="3322244" y="4690871"/>
            <a:ext cx="2773604" cy="365760"/>
          </a:xfrm>
          <a:prstGeom prst="rect">
            <a:avLst/>
          </a:prstGeom>
          <a:noFill/>
        </p:spPr>
        <p:txBody>
          <a:bodyPr wrap="square" lIns="0" rIns="0" tIns="0" bIns="0" anchor="t">
            <a:spAutoFit/>
          </a:bodyPr>
          <a:lstStyle/>
          <a:p>
            <a:pPr algn="ctr">
              <a:lnSpc>
                <a:spcPct val="115000"/>
              </a:lnSpc>
            </a:pPr>
            <a:r>
              <a:rPr sz="1400" b="1" i="0">
                <a:solidFill>
                  <a:srgbClr val="2C3A55"/>
                </a:solidFill>
                <a:latin typeface="Helvetica"/>
              </a:rPr>
              <a:t>Get more evidence</a:t>
            </a:r>
          </a:p>
        </p:txBody>
      </p:sp>
      <p:sp>
        <p:nvSpPr>
          <p:cNvPr id="11" name="Rectangle 10"/>
          <p:cNvSpPr/>
          <p:nvPr/>
        </p:nvSpPr>
        <p:spPr>
          <a:xfrm>
            <a:off x="6095848" y="3749039"/>
            <a:ext cx="2773604" cy="777240"/>
          </a:xfrm>
          <a:prstGeom prst="rect">
            <a:avLst/>
          </a:prstGeom>
          <a:solidFill>
            <a:srgbClr val="FFF8DA"/>
          </a:solidFill>
          <a:ln w="6350">
            <a:solidFill>
              <a:srgbClr val="7661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95848" y="3913631"/>
            <a:ext cx="2773604" cy="411480"/>
          </a:xfrm>
          <a:prstGeom prst="rect">
            <a:avLst/>
          </a:prstGeom>
          <a:noFill/>
        </p:spPr>
        <p:txBody>
          <a:bodyPr wrap="square" lIns="0" rIns="0" tIns="0" bIns="0" anchor="t">
            <a:spAutoFit/>
          </a:bodyPr>
          <a:lstStyle/>
          <a:p>
            <a:pPr algn="ctr">
              <a:lnSpc>
                <a:spcPct val="115000"/>
              </a:lnSpc>
            </a:pPr>
            <a:r>
              <a:rPr sz="1200" b="1" i="0" spc="200">
                <a:solidFill>
                  <a:srgbClr val="76610C"/>
                </a:solidFill>
                <a:latin typeface="Helvetica"/>
              </a:rPr>
              <a:t>MEDIUM</a:t>
            </a:r>
          </a:p>
        </p:txBody>
      </p:sp>
      <p:sp>
        <p:nvSpPr>
          <p:cNvPr id="13" name="TextBox 12"/>
          <p:cNvSpPr txBox="1"/>
          <p:nvPr/>
        </p:nvSpPr>
        <p:spPr>
          <a:xfrm>
            <a:off x="6095848" y="4690871"/>
            <a:ext cx="2773604" cy="365760"/>
          </a:xfrm>
          <a:prstGeom prst="rect">
            <a:avLst/>
          </a:prstGeom>
          <a:noFill/>
        </p:spPr>
        <p:txBody>
          <a:bodyPr wrap="square" lIns="0" rIns="0" tIns="0" bIns="0" anchor="t">
            <a:spAutoFit/>
          </a:bodyPr>
          <a:lstStyle/>
          <a:p>
            <a:pPr algn="ctr">
              <a:lnSpc>
                <a:spcPct val="115000"/>
              </a:lnSpc>
            </a:pPr>
            <a:r>
              <a:rPr sz="1400" b="1" i="0">
                <a:solidFill>
                  <a:srgbClr val="2C3A55"/>
                </a:solidFill>
                <a:latin typeface="Helvetica"/>
              </a:rPr>
              <a:t>Advisor review</a:t>
            </a:r>
          </a:p>
        </p:txBody>
      </p:sp>
      <p:sp>
        <p:nvSpPr>
          <p:cNvPr id="14" name="Rectangle 13"/>
          <p:cNvSpPr/>
          <p:nvPr/>
        </p:nvSpPr>
        <p:spPr>
          <a:xfrm>
            <a:off x="8869451" y="3749039"/>
            <a:ext cx="2773604" cy="777240"/>
          </a:xfrm>
          <a:prstGeom prst="rect">
            <a:avLst/>
          </a:prstGeom>
          <a:solidFill>
            <a:srgbClr val="E2EED9"/>
          </a:solidFill>
          <a:ln w="6350">
            <a:solidFill>
              <a:srgbClr val="3F5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451" y="3913631"/>
            <a:ext cx="2773604" cy="411480"/>
          </a:xfrm>
          <a:prstGeom prst="rect">
            <a:avLst/>
          </a:prstGeom>
          <a:noFill/>
        </p:spPr>
        <p:txBody>
          <a:bodyPr wrap="square" lIns="0" rIns="0" tIns="0" bIns="0" anchor="t">
            <a:spAutoFit/>
          </a:bodyPr>
          <a:lstStyle/>
          <a:p>
            <a:pPr algn="ctr">
              <a:lnSpc>
                <a:spcPct val="115000"/>
              </a:lnSpc>
            </a:pPr>
            <a:r>
              <a:rPr sz="1200" b="1" i="0" spc="200">
                <a:solidFill>
                  <a:srgbClr val="3F5A28"/>
                </a:solidFill>
                <a:latin typeface="Helvetica"/>
              </a:rPr>
              <a:t>HIGH</a:t>
            </a:r>
          </a:p>
        </p:txBody>
      </p:sp>
      <p:sp>
        <p:nvSpPr>
          <p:cNvPr id="16" name="TextBox 15"/>
          <p:cNvSpPr txBox="1"/>
          <p:nvPr/>
        </p:nvSpPr>
        <p:spPr>
          <a:xfrm>
            <a:off x="8869451" y="4690871"/>
            <a:ext cx="2773604" cy="365760"/>
          </a:xfrm>
          <a:prstGeom prst="rect">
            <a:avLst/>
          </a:prstGeom>
          <a:noFill/>
        </p:spPr>
        <p:txBody>
          <a:bodyPr wrap="square" lIns="0" rIns="0" tIns="0" bIns="0" anchor="t">
            <a:spAutoFit/>
          </a:bodyPr>
          <a:lstStyle/>
          <a:p>
            <a:pPr algn="ctr">
              <a:lnSpc>
                <a:spcPct val="115000"/>
              </a:lnSpc>
            </a:pPr>
            <a:r>
              <a:rPr sz="1400" b="1" i="0">
                <a:solidFill>
                  <a:srgbClr val="2C3A55"/>
                </a:solidFill>
                <a:latin typeface="Helvetica"/>
              </a:rPr>
              <a:t>Recommend submission</a:t>
            </a:r>
          </a:p>
        </p:txBody>
      </p:sp>
      <p:sp>
        <p:nvSpPr>
          <p:cNvPr id="17" name="TextBox 16"/>
          <p:cNvSpPr txBox="1"/>
          <p:nvPr/>
        </p:nvSpPr>
        <p:spPr>
          <a:xfrm>
            <a:off x="548640" y="5532120"/>
            <a:ext cx="11091672" cy="548640"/>
          </a:xfrm>
          <a:prstGeom prst="rect">
            <a:avLst/>
          </a:prstGeom>
          <a:noFill/>
        </p:spPr>
        <p:txBody>
          <a:bodyPr wrap="square" lIns="0" rIns="0" tIns="0" bIns="0" anchor="t">
            <a:spAutoFit/>
          </a:bodyPr>
          <a:lstStyle/>
          <a:p>
            <a:pPr algn="ctr">
              <a:lnSpc>
                <a:spcPct val="115000"/>
              </a:lnSpc>
            </a:pPr>
            <a:r>
              <a:rPr sz="1500" b="0" i="0">
                <a:solidFill>
                  <a:srgbClr val="4A5570"/>
                </a:solidFill>
                <a:latin typeface="Helvetica"/>
              </a:rPr>
              <a:t>A score of 0.7 means little to an advisor. "Advisor review" tells them exactly what to do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2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F7F5EE"/>
                </a:solidFill>
                <a:latin typeface="Helvetica"/>
              </a:rPr>
              <a:t>glomotec</a:t>
            </a:r>
          </a:p>
        </p:txBody>
      </p:sp>
      <p:sp>
        <p:nvSpPr>
          <p:cNvPr id="3" name="TextBox 2"/>
          <p:cNvSpPr txBox="1"/>
          <p:nvPr/>
        </p:nvSpPr>
        <p:spPr>
          <a:xfrm>
            <a:off x="548640" y="2286000"/>
            <a:ext cx="11091672"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LIVE</a:t>
            </a:r>
          </a:p>
        </p:txBody>
      </p:sp>
      <p:sp>
        <p:nvSpPr>
          <p:cNvPr id="4" name="TextBox 3"/>
          <p:cNvSpPr txBox="1"/>
          <p:nvPr/>
        </p:nvSpPr>
        <p:spPr>
          <a:xfrm>
            <a:off x="548640" y="2788920"/>
            <a:ext cx="11091672" cy="1463040"/>
          </a:xfrm>
          <a:prstGeom prst="rect">
            <a:avLst/>
          </a:prstGeom>
          <a:noFill/>
        </p:spPr>
        <p:txBody>
          <a:bodyPr wrap="square" lIns="0" rIns="0" tIns="0" bIns="0" anchor="t">
            <a:spAutoFit/>
          </a:bodyPr>
          <a:lstStyle/>
          <a:p>
            <a:pPr algn="ctr">
              <a:lnSpc>
                <a:spcPct val="115000"/>
              </a:lnSpc>
            </a:pPr>
            <a:r>
              <a:rPr sz="6400" b="1" i="0">
                <a:solidFill>
                  <a:srgbClr val="F7F5EE"/>
                </a:solidFill>
                <a:latin typeface="Helvetica"/>
              </a:rPr>
              <a:t>index-advisor.vercel.app</a:t>
            </a:r>
          </a:p>
        </p:txBody>
      </p:sp>
      <p:sp>
        <p:nvSpPr>
          <p:cNvPr id="5" name="TextBox 4"/>
          <p:cNvSpPr txBox="1"/>
          <p:nvPr/>
        </p:nvSpPr>
        <p:spPr>
          <a:xfrm>
            <a:off x="548640" y="4526280"/>
            <a:ext cx="11091672" cy="548640"/>
          </a:xfrm>
          <a:prstGeom prst="rect">
            <a:avLst/>
          </a:prstGeom>
          <a:noFill/>
        </p:spPr>
        <p:txBody>
          <a:bodyPr wrap="square" lIns="0" rIns="0" tIns="0" bIns="0" anchor="t">
            <a:spAutoFit/>
          </a:bodyPr>
          <a:lstStyle/>
          <a:p>
            <a:pPr algn="ctr">
              <a:lnSpc>
                <a:spcPct val="115000"/>
              </a:lnSpc>
            </a:pPr>
            <a:r>
              <a:rPr sz="2200" b="0" i="0">
                <a:solidFill>
                  <a:srgbClr val="4A88E5"/>
                </a:solidFill>
                <a:latin typeface="Helvetica"/>
              </a:rPr>
              <a:t>Click "Run live pipeline" on the home page.</a:t>
            </a:r>
          </a:p>
        </p:txBody>
      </p:sp>
      <p:sp>
        <p:nvSpPr>
          <p:cNvPr id="6" name="TextBox 5"/>
          <p:cNvSpPr txBox="1"/>
          <p:nvPr/>
        </p:nvSpPr>
        <p:spPr>
          <a:xfrm>
            <a:off x="548640" y="6035040"/>
            <a:ext cx="11091672" cy="365760"/>
          </a:xfrm>
          <a:prstGeom prst="rect">
            <a:avLst/>
          </a:prstGeom>
          <a:noFill/>
        </p:spPr>
        <p:txBody>
          <a:bodyPr wrap="square" lIns="0" rIns="0" tIns="0" bIns="0" anchor="t">
            <a:spAutoFit/>
          </a:bodyPr>
          <a:lstStyle/>
          <a:p>
            <a:pPr algn="ctr">
              <a:lnSpc>
                <a:spcPct val="115000"/>
              </a:lnSpc>
            </a:pPr>
            <a:r>
              <a:rPr sz="1200" b="0" i="0" spc="300">
                <a:solidFill>
                  <a:srgbClr val="6B86A6"/>
                </a:solidFill>
                <a:latin typeface="Helvetica"/>
              </a:rPr>
              <a:t>CRAWLER  ·  CHANGEFEED  ·  EXTRACTOR  ·  SCORER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1A1F2E"/>
                </a:solidFill>
                <a:latin typeface="Helvetica"/>
              </a:rPr>
              <a:t>glomotec</a:t>
            </a:r>
          </a:p>
        </p:txBody>
      </p:sp>
      <p:sp>
        <p:nvSpPr>
          <p:cNvPr id="3" name="TextBox 2"/>
          <p:cNvSpPr txBox="1"/>
          <p:nvPr/>
        </p:nvSpPr>
        <p:spPr>
          <a:xfrm>
            <a:off x="548640" y="1280160"/>
            <a:ext cx="7315200" cy="320040"/>
          </a:xfrm>
          <a:prstGeom prst="rect">
            <a:avLst/>
          </a:prstGeom>
          <a:noFill/>
        </p:spPr>
        <p:txBody>
          <a:bodyPr wrap="square" lIns="0" rIns="0" tIns="0" bIns="0" anchor="t">
            <a:spAutoFit/>
          </a:bodyPr>
          <a:lstStyle/>
          <a:p>
            <a:pPr algn="l">
              <a:lnSpc>
                <a:spcPct val="115000"/>
              </a:lnSpc>
            </a:pPr>
            <a:r>
              <a:rPr sz="1100" b="1" i="0" spc="200">
                <a:solidFill>
                  <a:srgbClr val="6B86A6"/>
                </a:solidFill>
                <a:latin typeface="Helvetica"/>
              </a:rPr>
              <a:t>06  ·  WHAT SURPRISED ME</a:t>
            </a:r>
          </a:p>
        </p:txBody>
      </p:sp>
      <p:sp>
        <p:nvSpPr>
          <p:cNvPr id="4" name="TextBox 3"/>
          <p:cNvSpPr txBox="1"/>
          <p:nvPr/>
        </p:nvSpPr>
        <p:spPr>
          <a:xfrm>
            <a:off x="548640" y="1737360"/>
            <a:ext cx="11091672" cy="1280160"/>
          </a:xfrm>
          <a:prstGeom prst="rect">
            <a:avLst/>
          </a:prstGeom>
          <a:noFill/>
        </p:spPr>
        <p:txBody>
          <a:bodyPr wrap="square" lIns="0" rIns="0" tIns="0" bIns="0" anchor="t">
            <a:spAutoFit/>
          </a:bodyPr>
          <a:lstStyle/>
          <a:p>
            <a:pPr algn="l">
              <a:lnSpc>
                <a:spcPct val="120000"/>
              </a:lnSpc>
            </a:pPr>
            <a:r>
              <a:rPr sz="2800" b="1" i="0">
                <a:solidFill>
                  <a:srgbClr val="0B1B2E"/>
                </a:solidFill>
                <a:latin typeface="Helvetica"/>
              </a:rPr>
              <a:t>An obviously weak applicant scored "mixed signals", not "do not submit".</a:t>
            </a:r>
          </a:p>
        </p:txBody>
      </p:sp>
      <p:sp>
        <p:nvSpPr>
          <p:cNvPr id="5" name="Rounded Rectangle 4"/>
          <p:cNvSpPr/>
          <p:nvPr/>
        </p:nvSpPr>
        <p:spPr>
          <a:xfrm>
            <a:off x="548640" y="3657600"/>
            <a:ext cx="5364328" cy="2057400"/>
          </a:xfrm>
          <a:prstGeom prst="roundRect">
            <a:avLst>
              <a:gd name="adj" fmla="val 10000"/>
            </a:avLst>
          </a:prstGeom>
          <a:solidFill>
            <a:srgbClr val="F7F5EE"/>
          </a:solidFill>
          <a:ln w="12700">
            <a:solidFill>
              <a:srgbClr val="7661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886200"/>
            <a:ext cx="4632808" cy="320040"/>
          </a:xfrm>
          <a:prstGeom prst="rect">
            <a:avLst/>
          </a:prstGeom>
          <a:noFill/>
        </p:spPr>
        <p:txBody>
          <a:bodyPr wrap="square" lIns="0" rIns="0" tIns="0" bIns="0" anchor="t">
            <a:spAutoFit/>
          </a:bodyPr>
          <a:lstStyle/>
          <a:p>
            <a:pPr algn="l">
              <a:lnSpc>
                <a:spcPct val="115000"/>
              </a:lnSpc>
            </a:pPr>
            <a:r>
              <a:rPr sz="1100" b="1" i="0" spc="200">
                <a:solidFill>
                  <a:srgbClr val="76610C"/>
                </a:solidFill>
                <a:latin typeface="Helvetica"/>
              </a:rPr>
              <a:t>BEFORE</a:t>
            </a:r>
          </a:p>
        </p:txBody>
      </p:sp>
      <p:sp>
        <p:nvSpPr>
          <p:cNvPr id="7" name="TextBox 6"/>
          <p:cNvSpPr txBox="1"/>
          <p:nvPr/>
        </p:nvSpPr>
        <p:spPr>
          <a:xfrm>
            <a:off x="914400" y="4297680"/>
            <a:ext cx="4632808" cy="548640"/>
          </a:xfrm>
          <a:prstGeom prst="rect">
            <a:avLst/>
          </a:prstGeom>
          <a:noFill/>
        </p:spPr>
        <p:txBody>
          <a:bodyPr wrap="square" lIns="0" rIns="0" tIns="0" bIns="0" anchor="t">
            <a:spAutoFit/>
          </a:bodyPr>
          <a:lstStyle/>
          <a:p>
            <a:pPr algn="l">
              <a:lnSpc>
                <a:spcPct val="115000"/>
              </a:lnSpc>
            </a:pPr>
            <a:r>
              <a:rPr sz="2200" b="1" i="0">
                <a:solidFill>
                  <a:srgbClr val="0B1B2E"/>
                </a:solidFill>
                <a:latin typeface="Helvetica"/>
              </a:rPr>
              <a:t>James, 40. Score: 70.</a:t>
            </a:r>
          </a:p>
        </p:txBody>
      </p:sp>
      <p:sp>
        <p:nvSpPr>
          <p:cNvPr id="8" name="TextBox 7"/>
          <p:cNvSpPr txBox="1"/>
          <p:nvPr/>
        </p:nvSpPr>
        <p:spPr>
          <a:xfrm>
            <a:off x="914400" y="4892040"/>
            <a:ext cx="4632808" cy="777240"/>
          </a:xfrm>
          <a:prstGeom prst="rect">
            <a:avLst/>
          </a:prstGeom>
          <a:noFill/>
        </p:spPr>
        <p:txBody>
          <a:bodyPr wrap="square" lIns="0" rIns="0" tIns="0" bIns="0" anchor="t">
            <a:spAutoFit/>
          </a:bodyPr>
          <a:lstStyle/>
          <a:p>
            <a:pPr algn="l">
              <a:lnSpc>
                <a:spcPct val="140000"/>
              </a:lnSpc>
            </a:pPr>
            <a:r>
              <a:rPr sz="1500" b="0" i="0">
                <a:solidFill>
                  <a:srgbClr val="4A5570"/>
                </a:solidFill>
                <a:latin typeface="Helvetica"/>
              </a:rPr>
              <a:t>No business. No endorsement. Reads as borderline.</a:t>
            </a:r>
          </a:p>
        </p:txBody>
      </p:sp>
      <p:sp>
        <p:nvSpPr>
          <p:cNvPr id="9" name="Rounded Rectangle 8"/>
          <p:cNvSpPr/>
          <p:nvPr/>
        </p:nvSpPr>
        <p:spPr>
          <a:xfrm>
            <a:off x="6278728" y="3657600"/>
            <a:ext cx="5364328" cy="2057400"/>
          </a:xfrm>
          <a:prstGeom prst="roundRect">
            <a:avLst>
              <a:gd name="adj" fmla="val 10000"/>
            </a:avLst>
          </a:prstGeom>
          <a:solidFill>
            <a:srgbClr val="EEF3FB"/>
          </a:solidFill>
          <a:ln w="12700">
            <a:solidFill>
              <a:srgbClr val="4A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8" y="3886200"/>
            <a:ext cx="4632808" cy="320040"/>
          </a:xfrm>
          <a:prstGeom prst="rect">
            <a:avLst/>
          </a:prstGeom>
          <a:noFill/>
        </p:spPr>
        <p:txBody>
          <a:bodyPr wrap="square" lIns="0" rIns="0" tIns="0" bIns="0" anchor="t">
            <a:spAutoFit/>
          </a:bodyPr>
          <a:lstStyle/>
          <a:p>
            <a:pPr algn="l">
              <a:lnSpc>
                <a:spcPct val="115000"/>
              </a:lnSpc>
            </a:pPr>
            <a:r>
              <a:rPr sz="1100" b="1" i="0" spc="200">
                <a:solidFill>
                  <a:srgbClr val="4A88E5"/>
                </a:solidFill>
                <a:latin typeface="Helvetica"/>
              </a:rPr>
              <a:t>AFTER</a:t>
            </a:r>
          </a:p>
        </p:txBody>
      </p:sp>
      <p:sp>
        <p:nvSpPr>
          <p:cNvPr id="11" name="TextBox 10"/>
          <p:cNvSpPr txBox="1"/>
          <p:nvPr/>
        </p:nvSpPr>
        <p:spPr>
          <a:xfrm>
            <a:off x="6644488" y="4297680"/>
            <a:ext cx="4632808" cy="548640"/>
          </a:xfrm>
          <a:prstGeom prst="rect">
            <a:avLst/>
          </a:prstGeom>
          <a:noFill/>
        </p:spPr>
        <p:txBody>
          <a:bodyPr wrap="square" lIns="0" rIns="0" tIns="0" bIns="0" anchor="t">
            <a:spAutoFit/>
          </a:bodyPr>
          <a:lstStyle/>
          <a:p>
            <a:pPr algn="l">
              <a:lnSpc>
                <a:spcPct val="115000"/>
              </a:lnSpc>
            </a:pPr>
            <a:r>
              <a:rPr sz="2200" b="1" i="0">
                <a:solidFill>
                  <a:srgbClr val="0B1B2E"/>
                </a:solidFill>
                <a:latin typeface="Helvetica"/>
              </a:rPr>
              <a:t>Same applicant. Score: 50.</a:t>
            </a:r>
          </a:p>
        </p:txBody>
      </p:sp>
      <p:sp>
        <p:nvSpPr>
          <p:cNvPr id="12" name="TextBox 11"/>
          <p:cNvSpPr txBox="1"/>
          <p:nvPr/>
        </p:nvSpPr>
        <p:spPr>
          <a:xfrm>
            <a:off x="6644488" y="4892040"/>
            <a:ext cx="4632808" cy="777240"/>
          </a:xfrm>
          <a:prstGeom prst="rect">
            <a:avLst/>
          </a:prstGeom>
          <a:noFill/>
        </p:spPr>
        <p:txBody>
          <a:bodyPr wrap="square" lIns="0" rIns="0" tIns="0" bIns="0" anchor="t">
            <a:spAutoFit/>
          </a:bodyPr>
          <a:lstStyle/>
          <a:p>
            <a:pPr algn="l">
              <a:lnSpc>
                <a:spcPct val="140000"/>
              </a:lnSpc>
            </a:pPr>
            <a:r>
              <a:rPr sz="1500" b="0" i="0">
                <a:solidFill>
                  <a:srgbClr val="4A5570"/>
                </a:solidFill>
                <a:latin typeface="Helvetica"/>
              </a:rPr>
              <a:t>Now reads as cannot submit.</a:t>
            </a:r>
          </a:p>
        </p:txBody>
      </p:sp>
      <p:sp>
        <p:nvSpPr>
          <p:cNvPr id="13" name="TextBox 12"/>
          <p:cNvSpPr txBox="1"/>
          <p:nvPr/>
        </p:nvSpPr>
        <p:spPr>
          <a:xfrm>
            <a:off x="548640" y="5989320"/>
            <a:ext cx="11091672" cy="502920"/>
          </a:xfrm>
          <a:prstGeom prst="rect">
            <a:avLst/>
          </a:prstGeom>
          <a:noFill/>
        </p:spPr>
        <p:txBody>
          <a:bodyPr wrap="square" lIns="0" rIns="0" tIns="0" bIns="0" anchor="t">
            <a:spAutoFit/>
          </a:bodyPr>
          <a:lstStyle/>
          <a:p>
            <a:pPr algn="ctr">
              <a:lnSpc>
                <a:spcPct val="115000"/>
              </a:lnSpc>
            </a:pPr>
            <a:r>
              <a:rPr sz="1400" b="0" i="0">
                <a:solidFill>
                  <a:srgbClr val="4A5570"/>
                </a:solidFill>
                <a:latin typeface="Helvetica"/>
              </a:rPr>
              <a:t>Pass-for-everyone criteria like "must be 18 or over" were hiding the real failures. Added a cap rule. Now in the framework.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2E"/>
        </a:solidFill>
        <a:effectLst/>
      </p:bgPr>
    </p:bg>
    <p:spTree>
      <p:nvGrpSpPr>
        <p:cNvPr id="1" name=""/>
        <p:cNvGrpSpPr/>
        <p:nvPr/>
      </p:nvGrpSpPr>
      <p:grpSpPr/>
      <p:sp>
        <p:nvSpPr>
          <p:cNvPr id="2" name="TextBox 1"/>
          <p:cNvSpPr txBox="1"/>
          <p:nvPr/>
        </p:nvSpPr>
        <p:spPr>
          <a:xfrm>
            <a:off x="548640" y="411480"/>
            <a:ext cx="2743200" cy="365760"/>
          </a:xfrm>
          <a:prstGeom prst="rect">
            <a:avLst/>
          </a:prstGeom>
          <a:noFill/>
        </p:spPr>
        <p:txBody>
          <a:bodyPr wrap="square" lIns="0" rIns="0" tIns="0" bIns="0" anchor="t">
            <a:spAutoFit/>
          </a:bodyPr>
          <a:lstStyle/>
          <a:p>
            <a:pPr algn="l">
              <a:lnSpc>
                <a:spcPct val="115000"/>
              </a:lnSpc>
            </a:pPr>
            <a:r>
              <a:rPr sz="1400" b="0" i="0">
                <a:solidFill>
                  <a:srgbClr val="F7F5EE"/>
                </a:solidFill>
                <a:latin typeface="Helvetica"/>
              </a:rPr>
              <a:t>glomotec</a:t>
            </a:r>
          </a:p>
        </p:txBody>
      </p:sp>
      <p:sp>
        <p:nvSpPr>
          <p:cNvPr id="3" name="TextBox 2"/>
          <p:cNvSpPr txBox="1"/>
          <p:nvPr/>
        </p:nvSpPr>
        <p:spPr>
          <a:xfrm>
            <a:off x="548640" y="2423160"/>
            <a:ext cx="11091672" cy="365760"/>
          </a:xfrm>
          <a:prstGeom prst="rect">
            <a:avLst/>
          </a:prstGeom>
          <a:noFill/>
        </p:spPr>
        <p:txBody>
          <a:bodyPr wrap="square" lIns="0" rIns="0" tIns="0" bIns="0" anchor="t">
            <a:spAutoFit/>
          </a:bodyPr>
          <a:lstStyle/>
          <a:p>
            <a:pPr algn="ctr">
              <a:lnSpc>
                <a:spcPct val="115000"/>
              </a:lnSpc>
            </a:pPr>
            <a:r>
              <a:rPr sz="1400" b="1" i="0" spc="400">
                <a:solidFill>
                  <a:srgbClr val="6B86A6"/>
                </a:solidFill>
                <a:latin typeface="Helvetica"/>
              </a:rPr>
              <a:t>THANK YOU</a:t>
            </a:r>
          </a:p>
        </p:txBody>
      </p:sp>
      <p:sp>
        <p:nvSpPr>
          <p:cNvPr id="4" name="TextBox 3"/>
          <p:cNvSpPr txBox="1"/>
          <p:nvPr/>
        </p:nvSpPr>
        <p:spPr>
          <a:xfrm>
            <a:off x="548640" y="2926080"/>
            <a:ext cx="11091672" cy="1828800"/>
          </a:xfrm>
          <a:prstGeom prst="rect">
            <a:avLst/>
          </a:prstGeom>
          <a:noFill/>
        </p:spPr>
        <p:txBody>
          <a:bodyPr wrap="square" lIns="0" rIns="0" tIns="0" bIns="0" anchor="ctr">
            <a:spAutoFit/>
          </a:bodyPr>
          <a:lstStyle/>
          <a:p>
            <a:pPr algn="ctr">
              <a:lnSpc>
                <a:spcPct val="115000"/>
              </a:lnSpc>
            </a:pPr>
            <a:r>
              <a:rPr sz="8800" b="1" i="0">
                <a:solidFill>
                  <a:srgbClr val="F7F5EE"/>
                </a:solidFill>
                <a:latin typeface="Helvetica"/>
              </a:rPr>
              <a:t>Questions?</a:t>
            </a:r>
          </a:p>
        </p:txBody>
      </p:sp>
      <p:sp>
        <p:nvSpPr>
          <p:cNvPr id="5" name="TextBox 4"/>
          <p:cNvSpPr txBox="1"/>
          <p:nvPr/>
        </p:nvSpPr>
        <p:spPr>
          <a:xfrm>
            <a:off x="548640" y="5989320"/>
            <a:ext cx="11091672" cy="365760"/>
          </a:xfrm>
          <a:prstGeom prst="rect">
            <a:avLst/>
          </a:prstGeom>
          <a:noFill/>
        </p:spPr>
        <p:txBody>
          <a:bodyPr wrap="square" lIns="0" rIns="0" tIns="0" bIns="0" anchor="t">
            <a:spAutoFit/>
          </a:bodyPr>
          <a:lstStyle/>
          <a:p>
            <a:pPr algn="ctr">
              <a:lnSpc>
                <a:spcPct val="115000"/>
              </a:lnSpc>
            </a:pPr>
            <a:r>
              <a:rPr sz="1200" b="0" i="0">
                <a:solidFill>
                  <a:srgbClr val="6B86A6"/>
                </a:solidFill>
                <a:latin typeface="Helvetica"/>
              </a:rPr>
              <a:t>Nilyufar Shodmonova  ·  Brief 02  ·  INDEX  ·  github.com/lotirium/glomotec-index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