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s/slide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33087EA-0403-4E5B-89AC-291A5202BCF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1143000" y="685800"/>
            <a:ext cx="4571640" cy="3428640"/>
          </a:xfrm>
          <a:prstGeom prst="rect">
            <a:avLst/>
          </a:prstGeom>
          <a:ln w="0">
            <a:noFill/>
          </a:ln>
        </p:spPr>
      </p:sp>
      <p:sp>
        <p:nvSpPr>
          <p:cNvPr id="17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Hi everyone. I'm Nilyufar. Brief 02. I'll walk you through INDEX, a system that reads UK immigration rules so advisors do not have to. I designed it and built a working version. Five minutes.</a:t>
            </a:r>
            <a:endParaRPr lang="en-US" sz="1300" b="0" u="none" strike="noStrike">
              <a:solidFill>
                <a:srgbClr val="000000"/>
              </a:solidFill>
              <a:effectLst/>
              <a:uFillTx/>
              <a:latin typeface="Arial"/>
            </a:endParaRPr>
          </a:p>
        </p:txBody>
      </p:sp>
      <p:sp>
        <p:nvSpPr>
          <p:cNvPr id="173"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3A7DB3F-1EF1-4FB9-9274-E211DD70AFE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1143000" y="685800"/>
            <a:ext cx="4571640" cy="3428640"/>
          </a:xfrm>
          <a:prstGeom prst="rect">
            <a:avLst/>
          </a:prstGeom>
          <a:ln w="0">
            <a:noFill/>
          </a:ln>
        </p:spPr>
      </p:sp>
      <p:sp>
        <p:nvSpPr>
          <p:cNvPr id="17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The UK Home Office publishes guidance for caseworkers across roughly 18 active immigration routes. These documents update every 1 to 4 months, without warning. A typical advisor charges between £8,000 and £25,000 per case. Failed applications cost clients time, money, and trust. glomotec advises on UK immigration. The rules are written for Home Office caseworkers, published online, and updated every few months without any notice. Most firms read each document once and trust their memory. Almost nobody tracks what changes between versions. That is the gap I am filling.</a:t>
            </a:r>
            <a:endParaRPr lang="en-US" sz="1300" b="0" u="none" strike="noStrike">
              <a:solidFill>
                <a:srgbClr val="000000"/>
              </a:solidFill>
              <a:effectLst/>
              <a:uFillTx/>
              <a:latin typeface="Arial"/>
            </a:endParaRPr>
          </a:p>
        </p:txBody>
      </p:sp>
      <p:sp>
        <p:nvSpPr>
          <p:cNvPr id="176"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C4C1AB-5086-46EC-A9CA-57D59BB4CC8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1143000" y="685800"/>
            <a:ext cx="4571640" cy="3428640"/>
          </a:xfrm>
          <a:prstGeom prst="rect">
            <a:avLst/>
          </a:prstGeom>
          <a:ln w="0">
            <a:noFill/>
          </a:ln>
        </p:spPr>
      </p:sp>
      <p:sp>
        <p:nvSpPr>
          <p:cNvPr id="1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INDEX reads the rules so advisors do not have to. Three steps. It fetches every government guidance page. It turns long paragraphs into clear, separate rules. It checks a client against those rules. An advisor sees where the case is strong, where it is weak, what evidence is missing, and when a rule changes which of their clients is affected.</a:t>
            </a:r>
            <a:endParaRPr lang="en-US" sz="1300" b="0" u="none" strike="noStrike">
              <a:solidFill>
                <a:srgbClr val="000000"/>
              </a:solidFill>
              <a:effectLst/>
              <a:uFillTx/>
              <a:latin typeface="Arial"/>
            </a:endParaRPr>
          </a:p>
        </p:txBody>
      </p:sp>
      <p:sp>
        <p:nvSpPr>
          <p:cNvPr id="179"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7246472-5BCA-414C-A932-C0BF661C10C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1143000" y="685800"/>
            <a:ext cx="4571640" cy="3428640"/>
          </a:xfrm>
          <a:prstGeom prst="rect">
            <a:avLst/>
          </a:prstGeom>
          <a:ln w="0">
            <a:noFill/>
          </a:ln>
        </p:spPr>
      </p:sp>
      <p:sp>
        <p:nvSpPr>
          <p:cNvPr id="1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The first three steps run on a schedule. CRAWLER downloads every guidance page from gov.uk. EXTRACTOR uses an AI model to turn each long paragraph into a clear rule. CHANGEFEED compares the new version against the last one and tells the operations team what actually changed. SCORER runs whenever an advisor wants to check a client. EVALUATOR retests the whole system every night to catch any drop in quality before it reaches the team.</a:t>
            </a:r>
            <a:endParaRPr lang="en-US" sz="1300" b="0" u="none" strike="noStrike">
              <a:solidFill>
                <a:srgbClr val="000000"/>
              </a:solidFill>
              <a:effectLst/>
              <a:uFillTx/>
              <a:latin typeface="Arial"/>
            </a:endParaRPr>
          </a:p>
        </p:txBody>
      </p:sp>
      <p:sp>
        <p:nvSpPr>
          <p:cNvPr id="182"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E432289-5666-4F0C-B3FF-5256DADBA55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1143000" y="685800"/>
            <a:ext cx="4571640" cy="3428640"/>
          </a:xfrm>
          <a:prstGeom prst="rect">
            <a:avLst/>
          </a:prstGeom>
          <a:ln w="0">
            <a:noFill/>
          </a:ln>
        </p:spPr>
      </p:sp>
      <p:sp>
        <p:nvSpPr>
          <p:cNvPr id="1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I had three options. Use AI to read the rules and answer questions like a chatbot. Summarise the rules in plain prose. Or pull every rule out into a clear, separate record. The first two cannot reliably catch what changes between versions, and a single word added or removed in government guidance can invalidate hundreds of applications. Only the structured version catches that. So I chose structured. Each rule is stored on its own with what kind of test it is, who has to prove it, and what evidence counts. That is what lets the system know that "must be 18 or over" and "must have a viable business" need very different evidence even though both end in a yes or no.</a:t>
            </a:r>
            <a:endParaRPr lang="en-US" sz="1300" b="0" u="none" strike="noStrike">
              <a:solidFill>
                <a:srgbClr val="000000"/>
              </a:solidFill>
              <a:effectLst/>
              <a:uFillTx/>
              <a:latin typeface="Arial"/>
            </a:endParaRPr>
          </a:p>
        </p:txBody>
      </p:sp>
      <p:sp>
        <p:nvSpPr>
          <p:cNvPr id="185"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E12DA4B-C4F7-4D81-9A79-8BCF79B92E2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143000" y="685800"/>
            <a:ext cx="4571640" cy="3428640"/>
          </a:xfrm>
          <a:prstGeom prst="rect">
            <a:avLst/>
          </a:prstGeom>
          <a:ln w="0">
            <a:noFill/>
          </a:ln>
        </p:spPr>
      </p:sp>
      <p:sp>
        <p:nvSpPr>
          <p:cNvPr id="1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INDEX checks a client on three things. Fit answers does the applicant actually fit this visa route. Paperwork answers is the application complete and properly evidenced. Suitability answers could this case still be refused for another reason, things like past immigration issues, a criminal record, false statements in a previous application, or unpaid NHS debt. The result on each check sits in one of four levels of confidence, and each level comes with a clear action. Advisors see the level and the action, not a raw number.</a:t>
            </a:r>
            <a:endParaRPr lang="en-US" sz="1300" b="0" u="none" strike="noStrike">
              <a:solidFill>
                <a:srgbClr val="000000"/>
              </a:solidFill>
              <a:effectLst/>
              <a:uFillTx/>
              <a:latin typeface="Arial"/>
            </a:endParaRPr>
          </a:p>
        </p:txBody>
      </p:sp>
      <p:sp>
        <p:nvSpPr>
          <p:cNvPr id="188"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68F3BF4-ADCD-4388-88C4-4DAE70B0030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1143000" y="685800"/>
            <a:ext cx="4571640" cy="3428640"/>
          </a:xfrm>
          <a:prstGeom prst="rect">
            <a:avLst/>
          </a:prstGeom>
          <a:ln w="0">
            <a:noFill/>
          </a:ln>
        </p:spPr>
      </p:sp>
      <p:sp>
        <p:nvSpPr>
          <p:cNvPr id="1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I will switch to the browser. First I will click Run live pipeline. CRAWLER downloads from gov.uk live, CHANGEFEED spots what changed against the last version, EXTRACTOR pulls one rule through the AI model. About fifteen seconds. Then I will click into a saved client to show the three checks, including the new suitability one. Then over to /signal, the version for new prospects, a quick chat as a Brazilian fintech founder. The conversation ends with a Strong fit verdict. Same system, two surfaces. About ninety seconds total.</a:t>
            </a:r>
            <a:endParaRPr lang="en-US" sz="1300" b="0" u="none" strike="noStrike">
              <a:solidFill>
                <a:srgbClr val="000000"/>
              </a:solidFill>
              <a:effectLst/>
              <a:uFillTx/>
              <a:latin typeface="Arial"/>
            </a:endParaRPr>
          </a:p>
        </p:txBody>
      </p:sp>
      <p:sp>
        <p:nvSpPr>
          <p:cNvPr id="191"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61D4D5D-52D1-4C6F-A784-32E443294ED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1143000" y="685800"/>
            <a:ext cx="4571640" cy="3428640"/>
          </a:xfrm>
          <a:prstGeom prst="rect">
            <a:avLst/>
          </a:prstGeom>
          <a:ln w="0">
            <a:noFill/>
          </a:ln>
        </p:spPr>
      </p:sp>
      <p:sp>
        <p:nvSpPr>
          <p:cNvPr id="1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The most useful thing I did this week was not more testing. It was sending my work to Nameera, the Director of Operations at glomotec. She runs the team that actually files these applications, so she sees every way a case can fall apart in real life. She validated the first two checks, fit and paperwork. Then she told me a case can still be refused even when the person fits the route and the paperwork is complete. For example, past immigration issues, a criminal record, false statements in a previous application, or unpaid NHS debt. That is a third kind of check, and I had been treating only the first two. So I added it. Three checks now, not two, and the document, the code, and the live demo all reflect that. Ray, the CEO, also wrote back. He pointed out the same system could help new people who are not yet clients, not just the ones we already have. Same rules, different lens. So I built that surface too, the prospect-facing version called /signal. You will see it in the demo. The things that mattered most this week came from talking to the people who actually do this work.</a:t>
            </a:r>
            <a:endParaRPr lang="en-US" sz="1300" b="0" u="none" strike="noStrike">
              <a:solidFill>
                <a:srgbClr val="000000"/>
              </a:solidFill>
              <a:effectLst/>
              <a:uFillTx/>
              <a:latin typeface="Arial"/>
            </a:endParaRPr>
          </a:p>
        </p:txBody>
      </p:sp>
      <p:sp>
        <p:nvSpPr>
          <p:cNvPr id="194"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44228F8-4BC1-49E4-83FC-EE93010E2B7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1143000" y="685800"/>
            <a:ext cx="4571640" cy="3428640"/>
          </a:xfrm>
          <a:prstGeom prst="rect">
            <a:avLst/>
          </a:prstGeom>
          <a:ln w="0">
            <a:noFill/>
          </a:ln>
        </p:spPr>
      </p:sp>
      <p:sp>
        <p:nvSpPr>
          <p:cNvPr id="1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1300" b="0" u="none" strike="noStrike">
                <a:solidFill>
                  <a:srgbClr val="000000"/>
                </a:solidFill>
                <a:effectLst/>
                <a:uFillTx/>
                <a:latin typeface="Arial"/>
              </a:rPr>
              <a:t>That's INDEX. The framework PDF and the code are in the repo. Happy to take questions.</a:t>
            </a:r>
            <a:endParaRPr lang="en-US" sz="1300" b="0" u="none" strike="noStrike">
              <a:solidFill>
                <a:srgbClr val="000000"/>
              </a:solidFill>
              <a:effectLst/>
              <a:uFillTx/>
              <a:latin typeface="Arial"/>
            </a:endParaRPr>
          </a:p>
        </p:txBody>
      </p:sp>
      <p:sp>
        <p:nvSpPr>
          <p:cNvPr id="197"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8AB99CE-9066-4BD4-B222-D36DA70BF8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06664DD-9916-48D4-9683-414C6AD3622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106CB3B-FF65-4B1C-8EC6-42B80771FB0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B3B7200-7E8A-4E2D-8FC1-B95A6AF2740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BC19A5-AB7F-4705-85B0-7A57369EFE9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900A4FE-3025-4CB7-A404-D4428F1589A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9A4BF08-E076-4E7C-9293-6C321D6A0D4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CCC7B6D-3AE8-4294-AFD5-3349839A320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21089DA-6C34-4806-974D-B2B5FB8BC33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1D6EC95-CFA4-4DBB-9CA5-0E91F4FFF8B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DBAA081-C9E5-4716-B688-D4BE2803D26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2FD8A6E-E7F9-4ABD-AF28-3C7A3A0E668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B2E"/>
        </a:solidFill>
      </p:bgPr>
    </p:bg>
    <p:spTree>
      <p:nvGrpSpPr>
        <p:cNvPr id="1" name=""/>
        <p:cNvGrpSpPr/>
        <p:nvPr/>
      </p:nvGrpSpPr>
      <p:grpSpPr>
        <a:xfrm>
          <a:off x="0" y="0"/>
          <a:ext cx="0" cy="0"/>
          <a:chOff x="0" y="0"/>
          <a:chExt cx="0" cy="0"/>
        </a:xfrm>
      </p:grpSpPr>
      <p:sp>
        <p:nvSpPr>
          <p:cNvPr id="67"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F7F5EE"/>
                </a:solidFill>
                <a:effectLst/>
                <a:uFillTx/>
                <a:latin typeface="Arial"/>
              </a:rPr>
              <a:t>glomotec</a:t>
            </a:r>
            <a:endParaRPr lang="en-US" sz="1400" b="0" u="none" strike="noStrike">
              <a:solidFill>
                <a:srgbClr val="FFFFFF"/>
              </a:solidFill>
              <a:effectLst/>
              <a:uFillTx/>
              <a:latin typeface="Arial"/>
            </a:endParaRPr>
          </a:p>
        </p:txBody>
      </p:sp>
      <p:sp>
        <p:nvSpPr>
          <p:cNvPr id="68" name="TextBox 2"/>
          <p:cNvSpPr/>
          <p:nvPr/>
        </p:nvSpPr>
        <p:spPr>
          <a:xfrm>
            <a:off x="548640" y="2468880"/>
            <a:ext cx="1109124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200" b="1" u="none" spc="300" strike="noStrike">
                <a:solidFill>
                  <a:srgbClr val="6B86A6"/>
                </a:solidFill>
                <a:effectLst/>
                <a:uFillTx/>
                <a:latin typeface="Arial"/>
              </a:rPr>
              <a:t>FRONTIER PROGRAMME  ·  COHORT ONE  ·  BRIEF 02</a:t>
            </a:r>
            <a:endParaRPr lang="en-US" sz="1200" b="0" u="none" strike="noStrike">
              <a:solidFill>
                <a:srgbClr val="FFFFFF"/>
              </a:solidFill>
              <a:effectLst/>
              <a:uFillTx/>
              <a:latin typeface="Arial"/>
            </a:endParaRPr>
          </a:p>
        </p:txBody>
      </p:sp>
      <p:sp>
        <p:nvSpPr>
          <p:cNvPr id="69" name="TextBox 3"/>
          <p:cNvSpPr/>
          <p:nvPr/>
        </p:nvSpPr>
        <p:spPr>
          <a:xfrm>
            <a:off x="548640" y="2834640"/>
            <a:ext cx="11091240" cy="1828440"/>
          </a:xfrm>
          <a:prstGeom prst="rect">
            <a:avLst/>
          </a:prstGeom>
          <a:noFill/>
          <a:ln w="0">
            <a:noFill/>
          </a:ln>
        </p:spPr>
        <p:style>
          <a:lnRef idx="0"/>
          <a:fillRef idx="0"/>
          <a:effectRef idx="0"/>
          <a:fontRef idx="minor"/>
        </p:style>
        <p:txBody>
          <a:bodyPr lIns="0" tIns="0" rIns="0" bIns="0" anchor="ctr">
            <a:spAutoFit/>
          </a:bodyPr>
          <a:p>
            <a:pPr algn="ctr" defTabSz="457200">
              <a:lnSpc>
                <a:spcPct val="115000"/>
              </a:lnSpc>
            </a:pPr>
            <a:r>
              <a:rPr lang="en-US" sz="12000" b="1" u="none" spc="79" strike="noStrike">
                <a:solidFill>
                  <a:srgbClr val="F7F5EE"/>
                </a:solidFill>
                <a:effectLst/>
                <a:uFillTx/>
                <a:latin typeface="Arial"/>
              </a:rPr>
              <a:t>INDEX</a:t>
            </a:r>
            <a:endParaRPr lang="en-US" sz="12000" b="0" u="none" strike="noStrike">
              <a:solidFill>
                <a:srgbClr val="FFFFFF"/>
              </a:solidFill>
              <a:effectLst/>
              <a:uFillTx/>
              <a:latin typeface="Arial"/>
            </a:endParaRPr>
          </a:p>
        </p:txBody>
      </p:sp>
      <p:sp>
        <p:nvSpPr>
          <p:cNvPr id="70" name="TextBox 4"/>
          <p:cNvSpPr/>
          <p:nvPr/>
        </p:nvSpPr>
        <p:spPr>
          <a:xfrm>
            <a:off x="548640" y="4617720"/>
            <a:ext cx="11091240" cy="5482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2000" b="0" u="none" strike="noStrike">
                <a:solidFill>
                  <a:srgbClr val="F7F5EE"/>
                </a:solidFill>
                <a:effectLst/>
                <a:uFillTx/>
                <a:latin typeface="Arial"/>
              </a:rPr>
              <a:t>A system that reads UK immigration rules so advisors do not have to.</a:t>
            </a:r>
            <a:endParaRPr lang="en-US" sz="2000" b="0" u="none" strike="noStrike">
              <a:solidFill>
                <a:srgbClr val="FFFFFF"/>
              </a:solidFill>
              <a:effectLst/>
              <a:uFillTx/>
              <a:latin typeface="Arial"/>
            </a:endParaRPr>
          </a:p>
        </p:txBody>
      </p:sp>
      <p:sp>
        <p:nvSpPr>
          <p:cNvPr id="71" name="TextBox 5"/>
          <p:cNvSpPr/>
          <p:nvPr/>
        </p:nvSpPr>
        <p:spPr>
          <a:xfrm>
            <a:off x="548640" y="6035040"/>
            <a:ext cx="1109124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300" b="0" u="none" strike="noStrike">
                <a:solidFill>
                  <a:srgbClr val="6B86A6"/>
                </a:solidFill>
                <a:effectLst/>
                <a:uFillTx/>
                <a:latin typeface="Arial"/>
              </a:rPr>
              <a:t>Nilyufar Shodmonova  ·  5 May 2026</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72"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1A1F2E"/>
                </a:solidFill>
                <a:effectLst/>
                <a:uFillTx/>
                <a:latin typeface="Arial"/>
              </a:rPr>
              <a:t>glomotec</a:t>
            </a:r>
            <a:endParaRPr lang="en-US" sz="1400" b="0" u="none" strike="noStrike">
              <a:solidFill>
                <a:srgbClr val="000000"/>
              </a:solidFill>
              <a:effectLst/>
              <a:uFillTx/>
              <a:latin typeface="Arial"/>
            </a:endParaRPr>
          </a:p>
        </p:txBody>
      </p:sp>
      <p:sp>
        <p:nvSpPr>
          <p:cNvPr id="73" name="TextBox 2"/>
          <p:cNvSpPr/>
          <p:nvPr/>
        </p:nvSpPr>
        <p:spPr>
          <a:xfrm>
            <a:off x="548640" y="1280160"/>
            <a:ext cx="731484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6B86A6"/>
                </a:solidFill>
                <a:effectLst/>
                <a:uFillTx/>
                <a:latin typeface="Arial"/>
              </a:rPr>
              <a:t>01  ·  THE PROBLEM</a:t>
            </a:r>
            <a:endParaRPr lang="en-US" sz="1100" b="0" u="none" strike="noStrike">
              <a:solidFill>
                <a:srgbClr val="000000"/>
              </a:solidFill>
              <a:effectLst/>
              <a:uFillTx/>
              <a:latin typeface="Arial"/>
            </a:endParaRPr>
          </a:p>
        </p:txBody>
      </p:sp>
      <p:sp>
        <p:nvSpPr>
          <p:cNvPr id="74" name="TextBox 3"/>
          <p:cNvSpPr/>
          <p:nvPr/>
        </p:nvSpPr>
        <p:spPr>
          <a:xfrm>
            <a:off x="548640" y="1737360"/>
            <a:ext cx="11091240" cy="12798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3400" b="1" u="none" strike="noStrike">
                <a:solidFill>
                  <a:srgbClr val="0B1B2E"/>
                </a:solidFill>
                <a:effectLst/>
                <a:uFillTx/>
                <a:latin typeface="Arial"/>
              </a:rPr>
              <a:t>Advisors read 80-page government documents from memory.</a:t>
            </a:r>
            <a:endParaRPr lang="en-US" sz="3400" b="0" u="none" strike="noStrike">
              <a:solidFill>
                <a:srgbClr val="000000"/>
              </a:solidFill>
              <a:effectLst/>
              <a:uFillTx/>
              <a:latin typeface="Arial"/>
            </a:endParaRPr>
          </a:p>
        </p:txBody>
      </p:sp>
      <p:sp>
        <p:nvSpPr>
          <p:cNvPr id="75" name="TextBox 4"/>
          <p:cNvSpPr/>
          <p:nvPr/>
        </p:nvSpPr>
        <p:spPr>
          <a:xfrm>
            <a:off x="548640" y="3383280"/>
            <a:ext cx="11091240" cy="1828440"/>
          </a:xfrm>
          <a:prstGeom prst="rect">
            <a:avLst/>
          </a:prstGeom>
          <a:noFill/>
          <a:ln w="0">
            <a:noFill/>
          </a:ln>
        </p:spPr>
        <p:style>
          <a:lnRef idx="0"/>
          <a:fillRef idx="0"/>
          <a:effectRef idx="0"/>
          <a:fontRef idx="minor"/>
        </p:style>
        <p:txBody>
          <a:bodyPr lIns="0" tIns="0" rIns="0" bIns="0" anchor="ctr">
            <a:spAutoFit/>
          </a:bodyPr>
          <a:p>
            <a:pPr algn="ctr" defTabSz="457200">
              <a:lnSpc>
                <a:spcPct val="105000"/>
              </a:lnSpc>
            </a:pPr>
            <a:r>
              <a:rPr lang="en-US" sz="8800" b="1" u="none" spc="-31" strike="noStrike">
                <a:solidFill>
                  <a:srgbClr val="4A88E5"/>
                </a:solidFill>
                <a:effectLst/>
                <a:uFillTx/>
                <a:latin typeface="Arial"/>
              </a:rPr>
              <a:t>£8,000–£25,000 per case</a:t>
            </a:r>
            <a:endParaRPr lang="en-US" sz="8800" b="0" u="none" strike="noStrike">
              <a:solidFill>
                <a:srgbClr val="000000"/>
              </a:solidFill>
              <a:effectLst/>
              <a:uFillTx/>
              <a:latin typeface="Arial"/>
            </a:endParaRPr>
          </a:p>
        </p:txBody>
      </p:sp>
      <p:sp>
        <p:nvSpPr>
          <p:cNvPr id="76" name="TextBox 5"/>
          <p:cNvSpPr/>
          <p:nvPr/>
        </p:nvSpPr>
        <p:spPr>
          <a:xfrm>
            <a:off x="548640" y="5212080"/>
            <a:ext cx="11091240" cy="4111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200" b="1" u="none" spc="400" strike="noStrike">
                <a:solidFill>
                  <a:srgbClr val="8897B1"/>
                </a:solidFill>
                <a:effectLst/>
                <a:uFillTx/>
                <a:latin typeface="Arial"/>
              </a:rPr>
              <a:t>TYPICAL ADVISOR FEE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77"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1A1F2E"/>
                </a:solidFill>
                <a:effectLst/>
                <a:uFillTx/>
                <a:latin typeface="Arial"/>
              </a:rPr>
              <a:t>glomotec</a:t>
            </a:r>
            <a:endParaRPr lang="en-US" sz="1400" b="0" u="none" strike="noStrike">
              <a:solidFill>
                <a:srgbClr val="000000"/>
              </a:solidFill>
              <a:effectLst/>
              <a:uFillTx/>
              <a:latin typeface="Arial"/>
            </a:endParaRPr>
          </a:p>
        </p:txBody>
      </p:sp>
      <p:sp>
        <p:nvSpPr>
          <p:cNvPr id="78" name="TextBox 2"/>
          <p:cNvSpPr/>
          <p:nvPr/>
        </p:nvSpPr>
        <p:spPr>
          <a:xfrm>
            <a:off x="548640" y="1280160"/>
            <a:ext cx="731484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6B86A6"/>
                </a:solidFill>
                <a:effectLst/>
                <a:uFillTx/>
                <a:latin typeface="Arial"/>
              </a:rPr>
              <a:t>02  ·  WHAT I BUILT</a:t>
            </a:r>
            <a:endParaRPr lang="en-US" sz="1100" b="0" u="none" strike="noStrike">
              <a:solidFill>
                <a:srgbClr val="000000"/>
              </a:solidFill>
              <a:effectLst/>
              <a:uFillTx/>
              <a:latin typeface="Arial"/>
            </a:endParaRPr>
          </a:p>
        </p:txBody>
      </p:sp>
      <p:sp>
        <p:nvSpPr>
          <p:cNvPr id="79" name="TextBox 3"/>
          <p:cNvSpPr/>
          <p:nvPr/>
        </p:nvSpPr>
        <p:spPr>
          <a:xfrm>
            <a:off x="548640" y="1737360"/>
            <a:ext cx="11091240" cy="12798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3600" b="1" u="none" strike="noStrike">
                <a:solidFill>
                  <a:srgbClr val="0B1B2E"/>
                </a:solidFill>
                <a:effectLst/>
                <a:uFillTx/>
                <a:latin typeface="Arial"/>
              </a:rPr>
              <a:t>INDEX reads the rules so advisors do not have to.</a:t>
            </a:r>
            <a:endParaRPr lang="en-US" sz="3600" b="0" u="none" strike="noStrike">
              <a:solidFill>
                <a:srgbClr val="000000"/>
              </a:solidFill>
              <a:effectLst/>
              <a:uFillTx/>
              <a:latin typeface="Arial"/>
            </a:endParaRPr>
          </a:p>
        </p:txBody>
      </p:sp>
      <p:sp>
        <p:nvSpPr>
          <p:cNvPr id="80" name="Oval 4"/>
          <p:cNvSpPr/>
          <p:nvPr/>
        </p:nvSpPr>
        <p:spPr>
          <a:xfrm>
            <a:off x="2194560" y="3520440"/>
            <a:ext cx="868320" cy="868320"/>
          </a:xfrm>
          <a:prstGeom prst="ellipse">
            <a:avLst/>
          </a:prstGeom>
          <a:solidFill>
            <a:srgbClr val="EEF3FB"/>
          </a:solidFill>
          <a:ln w="1270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TextBox 5"/>
          <p:cNvSpPr/>
          <p:nvPr/>
        </p:nvSpPr>
        <p:spPr>
          <a:xfrm>
            <a:off x="2194560" y="3520440"/>
            <a:ext cx="868320" cy="868320"/>
          </a:xfrm>
          <a:prstGeom prst="rect">
            <a:avLst/>
          </a:prstGeom>
          <a:noFill/>
          <a:ln w="0">
            <a:noFill/>
          </a:ln>
        </p:spPr>
        <p:style>
          <a:lnRef idx="0"/>
          <a:fillRef idx="0"/>
          <a:effectRef idx="0"/>
          <a:fontRef idx="minor"/>
        </p:style>
        <p:txBody>
          <a:bodyPr lIns="0" tIns="0" rIns="0" bIns="0" anchor="ctr">
            <a:spAutoFit/>
          </a:bodyPr>
          <a:p>
            <a:pPr algn="ctr" defTabSz="457200">
              <a:lnSpc>
                <a:spcPct val="115000"/>
              </a:lnSpc>
            </a:pPr>
            <a:r>
              <a:rPr lang="en-US" sz="2800" b="1" u="none" strike="noStrike">
                <a:solidFill>
                  <a:srgbClr val="4A88E5"/>
                </a:solidFill>
                <a:effectLst/>
                <a:uFillTx/>
                <a:latin typeface="Arial"/>
              </a:rPr>
              <a:t>1</a:t>
            </a:r>
            <a:endParaRPr lang="en-US" sz="2800" b="0" u="none" strike="noStrike">
              <a:solidFill>
                <a:srgbClr val="000000"/>
              </a:solidFill>
              <a:effectLst/>
              <a:uFillTx/>
              <a:latin typeface="Arial"/>
            </a:endParaRPr>
          </a:p>
        </p:txBody>
      </p:sp>
      <p:sp>
        <p:nvSpPr>
          <p:cNvPr id="82" name="TextBox 6"/>
          <p:cNvSpPr/>
          <p:nvPr/>
        </p:nvSpPr>
        <p:spPr>
          <a:xfrm>
            <a:off x="1737360" y="4617720"/>
            <a:ext cx="1782720" cy="4111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201" strike="noStrike">
                <a:solidFill>
                  <a:srgbClr val="2C3A55"/>
                </a:solidFill>
                <a:effectLst/>
                <a:uFillTx/>
                <a:latin typeface="Arial"/>
              </a:rPr>
              <a:t>READ</a:t>
            </a:r>
            <a:endParaRPr lang="en-US" sz="1400" b="0" u="none" strike="noStrike">
              <a:solidFill>
                <a:srgbClr val="000000"/>
              </a:solidFill>
              <a:effectLst/>
              <a:uFillTx/>
              <a:latin typeface="Arial"/>
            </a:endParaRPr>
          </a:p>
        </p:txBody>
      </p:sp>
      <p:sp>
        <p:nvSpPr>
          <p:cNvPr id="83" name="Oval 7"/>
          <p:cNvSpPr/>
          <p:nvPr/>
        </p:nvSpPr>
        <p:spPr>
          <a:xfrm>
            <a:off x="5661360" y="3520440"/>
            <a:ext cx="868320" cy="868320"/>
          </a:xfrm>
          <a:prstGeom prst="ellipse">
            <a:avLst/>
          </a:prstGeom>
          <a:solidFill>
            <a:srgbClr val="EEF3FB"/>
          </a:solidFill>
          <a:ln w="1270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TextBox 8"/>
          <p:cNvSpPr/>
          <p:nvPr/>
        </p:nvSpPr>
        <p:spPr>
          <a:xfrm>
            <a:off x="5661360" y="3520440"/>
            <a:ext cx="868320" cy="868320"/>
          </a:xfrm>
          <a:prstGeom prst="rect">
            <a:avLst/>
          </a:prstGeom>
          <a:noFill/>
          <a:ln w="0">
            <a:noFill/>
          </a:ln>
        </p:spPr>
        <p:style>
          <a:lnRef idx="0"/>
          <a:fillRef idx="0"/>
          <a:effectRef idx="0"/>
          <a:fontRef idx="minor"/>
        </p:style>
        <p:txBody>
          <a:bodyPr lIns="0" tIns="0" rIns="0" bIns="0" anchor="ctr">
            <a:spAutoFit/>
          </a:bodyPr>
          <a:p>
            <a:pPr algn="ctr" defTabSz="457200">
              <a:lnSpc>
                <a:spcPct val="115000"/>
              </a:lnSpc>
            </a:pPr>
            <a:r>
              <a:rPr lang="en-US" sz="2800" b="1" u="none" strike="noStrike">
                <a:solidFill>
                  <a:srgbClr val="4A88E5"/>
                </a:solidFill>
                <a:effectLst/>
                <a:uFillTx/>
                <a:latin typeface="Arial"/>
              </a:rPr>
              <a:t>2</a:t>
            </a:r>
            <a:endParaRPr lang="en-US" sz="2800" b="0" u="none" strike="noStrike">
              <a:solidFill>
                <a:srgbClr val="000000"/>
              </a:solidFill>
              <a:effectLst/>
              <a:uFillTx/>
              <a:latin typeface="Arial"/>
            </a:endParaRPr>
          </a:p>
        </p:txBody>
      </p:sp>
      <p:sp>
        <p:nvSpPr>
          <p:cNvPr id="85" name="TextBox 9"/>
          <p:cNvSpPr/>
          <p:nvPr/>
        </p:nvSpPr>
        <p:spPr>
          <a:xfrm>
            <a:off x="5204160" y="4617720"/>
            <a:ext cx="1782720" cy="4111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201" strike="noStrike">
                <a:solidFill>
                  <a:srgbClr val="2C3A55"/>
                </a:solidFill>
                <a:effectLst/>
                <a:uFillTx/>
                <a:latin typeface="Arial"/>
              </a:rPr>
              <a:t>STRUCTURE</a:t>
            </a:r>
            <a:endParaRPr lang="en-US" sz="1400" b="0" u="none" strike="noStrike">
              <a:solidFill>
                <a:srgbClr val="000000"/>
              </a:solidFill>
              <a:effectLst/>
              <a:uFillTx/>
              <a:latin typeface="Arial"/>
            </a:endParaRPr>
          </a:p>
        </p:txBody>
      </p:sp>
      <p:sp>
        <p:nvSpPr>
          <p:cNvPr id="86" name="Oval 10"/>
          <p:cNvSpPr/>
          <p:nvPr/>
        </p:nvSpPr>
        <p:spPr>
          <a:xfrm>
            <a:off x="9128520" y="3520440"/>
            <a:ext cx="868320" cy="868320"/>
          </a:xfrm>
          <a:prstGeom prst="ellipse">
            <a:avLst/>
          </a:prstGeom>
          <a:solidFill>
            <a:srgbClr val="EEF3FB"/>
          </a:solidFill>
          <a:ln w="1270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 name="TextBox 11"/>
          <p:cNvSpPr/>
          <p:nvPr/>
        </p:nvSpPr>
        <p:spPr>
          <a:xfrm>
            <a:off x="9128520" y="3520440"/>
            <a:ext cx="868320" cy="868320"/>
          </a:xfrm>
          <a:prstGeom prst="rect">
            <a:avLst/>
          </a:prstGeom>
          <a:noFill/>
          <a:ln w="0">
            <a:noFill/>
          </a:ln>
        </p:spPr>
        <p:style>
          <a:lnRef idx="0"/>
          <a:fillRef idx="0"/>
          <a:effectRef idx="0"/>
          <a:fontRef idx="minor"/>
        </p:style>
        <p:txBody>
          <a:bodyPr lIns="0" tIns="0" rIns="0" bIns="0" anchor="ctr">
            <a:spAutoFit/>
          </a:bodyPr>
          <a:p>
            <a:pPr algn="ctr" defTabSz="457200">
              <a:lnSpc>
                <a:spcPct val="115000"/>
              </a:lnSpc>
            </a:pPr>
            <a:r>
              <a:rPr lang="en-US" sz="2800" b="1" u="none" strike="noStrike">
                <a:solidFill>
                  <a:srgbClr val="4A88E5"/>
                </a:solidFill>
                <a:effectLst/>
                <a:uFillTx/>
                <a:latin typeface="Arial"/>
              </a:rPr>
              <a:t>3</a:t>
            </a:r>
            <a:endParaRPr lang="en-US" sz="2800" b="0" u="none" strike="noStrike">
              <a:solidFill>
                <a:srgbClr val="000000"/>
              </a:solidFill>
              <a:effectLst/>
              <a:uFillTx/>
              <a:latin typeface="Arial"/>
            </a:endParaRPr>
          </a:p>
        </p:txBody>
      </p:sp>
      <p:sp>
        <p:nvSpPr>
          <p:cNvPr id="88" name="TextBox 12"/>
          <p:cNvSpPr/>
          <p:nvPr/>
        </p:nvSpPr>
        <p:spPr>
          <a:xfrm>
            <a:off x="8671320" y="4617720"/>
            <a:ext cx="1782720" cy="4111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201" strike="noStrike">
                <a:solidFill>
                  <a:srgbClr val="2C3A55"/>
                </a:solidFill>
                <a:effectLst/>
                <a:uFillTx/>
                <a:latin typeface="Arial"/>
              </a:rPr>
              <a:t>CHECK</a:t>
            </a:r>
            <a:endParaRPr lang="en-US" sz="1400" b="0" u="none" strike="noStrike">
              <a:solidFill>
                <a:srgbClr val="000000"/>
              </a:solidFill>
              <a:effectLst/>
              <a:uFillTx/>
              <a:latin typeface="Arial"/>
            </a:endParaRPr>
          </a:p>
        </p:txBody>
      </p:sp>
      <p:cxnSp>
        <p:nvCxnSpPr>
          <p:cNvPr id="89" name="Connector 13"/>
          <p:cNvCxnSpPr/>
          <p:nvPr/>
        </p:nvCxnSpPr>
        <p:spPr>
          <a:xfrm>
            <a:off x="3108960" y="3954600"/>
            <a:ext cx="2507040" cy="360"/>
          </a:xfrm>
          <a:prstGeom prst="straightConnector1">
            <a:avLst/>
          </a:prstGeom>
          <a:ln w="17780">
            <a:solidFill>
              <a:srgbClr val="4A88E5"/>
            </a:solidFill>
            <a:round/>
            <a:tailEnd len="med" type="triangle" w="med"/>
          </a:ln>
        </p:spPr>
      </p:cxnSp>
      <p:cxnSp>
        <p:nvCxnSpPr>
          <p:cNvPr id="90" name="Connector 14"/>
          <p:cNvCxnSpPr/>
          <p:nvPr/>
        </p:nvCxnSpPr>
        <p:spPr>
          <a:xfrm>
            <a:off x="6575760" y="3954600"/>
            <a:ext cx="2507040" cy="360"/>
          </a:xfrm>
          <a:prstGeom prst="straightConnector1">
            <a:avLst/>
          </a:prstGeom>
          <a:ln w="17780">
            <a:solidFill>
              <a:srgbClr val="4A88E5"/>
            </a:solidFill>
            <a:round/>
            <a:tailEnd len="med" type="triangle" w="med"/>
          </a:ln>
        </p:spPr>
      </p:cxn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91"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1A1F2E"/>
                </a:solidFill>
                <a:effectLst/>
                <a:uFillTx/>
                <a:latin typeface="Arial"/>
              </a:rPr>
              <a:t>glomotec</a:t>
            </a:r>
            <a:endParaRPr lang="en-US" sz="1400" b="0" u="none" strike="noStrike">
              <a:solidFill>
                <a:srgbClr val="000000"/>
              </a:solidFill>
              <a:effectLst/>
              <a:uFillTx/>
              <a:latin typeface="Arial"/>
            </a:endParaRPr>
          </a:p>
        </p:txBody>
      </p:sp>
      <p:sp>
        <p:nvSpPr>
          <p:cNvPr id="92" name="TextBox 2"/>
          <p:cNvSpPr/>
          <p:nvPr/>
        </p:nvSpPr>
        <p:spPr>
          <a:xfrm>
            <a:off x="548640" y="1280160"/>
            <a:ext cx="731484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6B86A6"/>
                </a:solidFill>
                <a:effectLst/>
                <a:uFillTx/>
                <a:latin typeface="Arial"/>
              </a:rPr>
              <a:t>03  ·  HOW IT WORKS</a:t>
            </a:r>
            <a:endParaRPr lang="en-US" sz="1100" b="0" u="none" strike="noStrike">
              <a:solidFill>
                <a:srgbClr val="000000"/>
              </a:solidFill>
              <a:effectLst/>
              <a:uFillTx/>
              <a:latin typeface="Arial"/>
            </a:endParaRPr>
          </a:p>
        </p:txBody>
      </p:sp>
      <p:sp>
        <p:nvSpPr>
          <p:cNvPr id="93" name="TextBox 3"/>
          <p:cNvSpPr/>
          <p:nvPr/>
        </p:nvSpPr>
        <p:spPr>
          <a:xfrm>
            <a:off x="548640" y="1737360"/>
            <a:ext cx="11091240" cy="8226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3800" b="1" u="none" strike="noStrike">
                <a:solidFill>
                  <a:srgbClr val="0B1B2E"/>
                </a:solidFill>
                <a:effectLst/>
                <a:uFillTx/>
                <a:latin typeface="Arial"/>
              </a:rPr>
              <a:t>Five steps. One pipeline.</a:t>
            </a:r>
            <a:endParaRPr lang="en-US" sz="3800" b="0" u="none" strike="noStrike">
              <a:solidFill>
                <a:srgbClr val="000000"/>
              </a:solidFill>
              <a:effectLst/>
              <a:uFillTx/>
              <a:latin typeface="Arial"/>
            </a:endParaRPr>
          </a:p>
        </p:txBody>
      </p:sp>
      <p:cxnSp>
        <p:nvCxnSpPr>
          <p:cNvPr id="94" name="Connector 4"/>
          <p:cNvCxnSpPr/>
          <p:nvPr/>
        </p:nvCxnSpPr>
        <p:spPr>
          <a:xfrm>
            <a:off x="2331720" y="3657600"/>
            <a:ext cx="545040" cy="360"/>
          </a:xfrm>
          <a:prstGeom prst="straightConnector1">
            <a:avLst/>
          </a:prstGeom>
          <a:ln w="19050">
            <a:solidFill>
              <a:srgbClr val="4A88E5"/>
            </a:solidFill>
            <a:round/>
            <a:tailEnd len="med" type="triangle" w="med"/>
          </a:ln>
        </p:spPr>
      </p:cxnSp>
      <p:cxnSp>
        <p:nvCxnSpPr>
          <p:cNvPr id="95" name="Connector 5"/>
          <p:cNvCxnSpPr/>
          <p:nvPr/>
        </p:nvCxnSpPr>
        <p:spPr>
          <a:xfrm>
            <a:off x="4659480" y="3657600"/>
            <a:ext cx="545040" cy="360"/>
          </a:xfrm>
          <a:prstGeom prst="straightConnector1">
            <a:avLst/>
          </a:prstGeom>
          <a:ln w="19050">
            <a:solidFill>
              <a:srgbClr val="4A88E5"/>
            </a:solidFill>
            <a:round/>
            <a:tailEnd len="med" type="triangle" w="med"/>
          </a:ln>
        </p:spPr>
      </p:cxnSp>
      <p:cxnSp>
        <p:nvCxnSpPr>
          <p:cNvPr id="96" name="Connector 6"/>
          <p:cNvCxnSpPr/>
          <p:nvPr/>
        </p:nvCxnSpPr>
        <p:spPr>
          <a:xfrm>
            <a:off x="6987240" y="3657600"/>
            <a:ext cx="545040" cy="360"/>
          </a:xfrm>
          <a:prstGeom prst="straightConnector1">
            <a:avLst/>
          </a:prstGeom>
          <a:ln w="19050">
            <a:solidFill>
              <a:srgbClr val="4A88E5"/>
            </a:solidFill>
            <a:round/>
            <a:tailEnd len="med" type="triangle" w="med"/>
          </a:ln>
        </p:spPr>
      </p:cxnSp>
      <p:cxnSp>
        <p:nvCxnSpPr>
          <p:cNvPr id="97" name="Connector 7"/>
          <p:cNvCxnSpPr/>
          <p:nvPr/>
        </p:nvCxnSpPr>
        <p:spPr>
          <a:xfrm>
            <a:off x="9315000" y="3657600"/>
            <a:ext cx="545040" cy="360"/>
          </a:xfrm>
          <a:prstGeom prst="straightConnector1">
            <a:avLst/>
          </a:prstGeom>
          <a:ln w="19050">
            <a:solidFill>
              <a:srgbClr val="4A88E5"/>
            </a:solidFill>
            <a:round/>
            <a:tailEnd len="med" type="triangle" w="med"/>
          </a:ln>
        </p:spPr>
      </p:cxnSp>
      <p:sp>
        <p:nvSpPr>
          <p:cNvPr id="98" name="Rounded Rectangle 8"/>
          <p:cNvSpPr/>
          <p:nvPr/>
        </p:nvSpPr>
        <p:spPr>
          <a:xfrm>
            <a:off x="548640" y="3154680"/>
            <a:ext cx="1782720" cy="1005480"/>
          </a:xfrm>
          <a:prstGeom prst="roundRect">
            <a:avLst>
              <a:gd name="adj" fmla="val 10000"/>
            </a:avLst>
          </a:prstGeom>
          <a:solidFill>
            <a:srgbClr val="EEF3FB"/>
          </a:solidFill>
          <a:ln w="1143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 name="TextBox 9"/>
          <p:cNvSpPr/>
          <p:nvPr/>
        </p:nvSpPr>
        <p:spPr>
          <a:xfrm>
            <a:off x="548640" y="3447360"/>
            <a:ext cx="1782720" cy="4568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119" strike="noStrike">
                <a:solidFill>
                  <a:srgbClr val="4A88E5"/>
                </a:solidFill>
                <a:effectLst/>
                <a:uFillTx/>
                <a:latin typeface="Arial"/>
              </a:rPr>
              <a:t>CRAWLER</a:t>
            </a:r>
            <a:endParaRPr lang="en-US" sz="1400" b="0" u="none" strike="noStrike">
              <a:solidFill>
                <a:srgbClr val="000000"/>
              </a:solidFill>
              <a:effectLst/>
              <a:uFillTx/>
              <a:latin typeface="Arial"/>
            </a:endParaRPr>
          </a:p>
        </p:txBody>
      </p:sp>
      <p:sp>
        <p:nvSpPr>
          <p:cNvPr id="100" name="TextBox 10"/>
          <p:cNvSpPr/>
          <p:nvPr/>
        </p:nvSpPr>
        <p:spPr>
          <a:xfrm>
            <a:off x="548640" y="4297680"/>
            <a:ext cx="1782720" cy="1005480"/>
          </a:xfrm>
          <a:prstGeom prst="rect">
            <a:avLst/>
          </a:prstGeom>
          <a:noFill/>
          <a:ln w="0">
            <a:noFill/>
          </a:ln>
        </p:spPr>
        <p:style>
          <a:lnRef idx="0"/>
          <a:fillRef idx="0"/>
          <a:effectRef idx="0"/>
          <a:fontRef idx="minor"/>
        </p:style>
        <p:txBody>
          <a:bodyPr lIns="0" tIns="0" rIns="0" bIns="0" anchor="t">
            <a:spAutoFit/>
          </a:bodyPr>
          <a:p>
            <a:pPr algn="ctr" defTabSz="457200">
              <a:lnSpc>
                <a:spcPct val="130000"/>
              </a:lnSpc>
            </a:pPr>
            <a:r>
              <a:rPr lang="en-US" sz="1200" b="0" i="1" u="none" strike="noStrike">
                <a:solidFill>
                  <a:srgbClr val="4A5570"/>
                </a:solidFill>
                <a:effectLst/>
                <a:uFillTx/>
                <a:latin typeface="Arial"/>
              </a:rPr>
              <a:t>downloads the rules</a:t>
            </a:r>
            <a:endParaRPr lang="en-US" sz="1200" b="0" u="none" strike="noStrike">
              <a:solidFill>
                <a:srgbClr val="000000"/>
              </a:solidFill>
              <a:effectLst/>
              <a:uFillTx/>
              <a:latin typeface="Arial"/>
            </a:endParaRPr>
          </a:p>
          <a:p>
            <a:pPr algn="ctr" defTabSz="457200">
              <a:lnSpc>
                <a:spcPct val="130000"/>
              </a:lnSpc>
            </a:pPr>
            <a:r>
              <a:rPr lang="en-US" sz="1200" b="0" i="1" u="none" strike="noStrike">
                <a:solidFill>
                  <a:srgbClr val="4A5570"/>
                </a:solidFill>
                <a:effectLst/>
                <a:uFillTx/>
                <a:latin typeface="Arial"/>
              </a:rPr>
              <a:t>from gov.uk</a:t>
            </a:r>
            <a:endParaRPr lang="en-US" sz="1200" b="0" u="none" strike="noStrike">
              <a:solidFill>
                <a:srgbClr val="000000"/>
              </a:solidFill>
              <a:effectLst/>
              <a:uFillTx/>
              <a:latin typeface="Arial"/>
            </a:endParaRPr>
          </a:p>
        </p:txBody>
      </p:sp>
      <p:sp>
        <p:nvSpPr>
          <p:cNvPr id="101" name="Rounded Rectangle 11"/>
          <p:cNvSpPr/>
          <p:nvPr/>
        </p:nvSpPr>
        <p:spPr>
          <a:xfrm>
            <a:off x="2876400" y="3154680"/>
            <a:ext cx="1782720" cy="1005480"/>
          </a:xfrm>
          <a:prstGeom prst="roundRect">
            <a:avLst>
              <a:gd name="adj" fmla="val 10000"/>
            </a:avLst>
          </a:prstGeom>
          <a:solidFill>
            <a:srgbClr val="EEF3FB"/>
          </a:solidFill>
          <a:ln w="1143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 name="TextBox 12"/>
          <p:cNvSpPr/>
          <p:nvPr/>
        </p:nvSpPr>
        <p:spPr>
          <a:xfrm>
            <a:off x="2876400" y="3447360"/>
            <a:ext cx="1782720" cy="4568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119" strike="noStrike">
                <a:solidFill>
                  <a:srgbClr val="4A88E5"/>
                </a:solidFill>
                <a:effectLst/>
                <a:uFillTx/>
                <a:latin typeface="Arial"/>
              </a:rPr>
              <a:t>EXTRACTOR</a:t>
            </a:r>
            <a:endParaRPr lang="en-US" sz="1400" b="0" u="none" strike="noStrike">
              <a:solidFill>
                <a:srgbClr val="000000"/>
              </a:solidFill>
              <a:effectLst/>
              <a:uFillTx/>
              <a:latin typeface="Arial"/>
            </a:endParaRPr>
          </a:p>
        </p:txBody>
      </p:sp>
      <p:sp>
        <p:nvSpPr>
          <p:cNvPr id="103" name="TextBox 13"/>
          <p:cNvSpPr/>
          <p:nvPr/>
        </p:nvSpPr>
        <p:spPr>
          <a:xfrm>
            <a:off x="2876400" y="4297680"/>
            <a:ext cx="1782720" cy="1005480"/>
          </a:xfrm>
          <a:prstGeom prst="rect">
            <a:avLst/>
          </a:prstGeom>
          <a:noFill/>
          <a:ln w="0">
            <a:noFill/>
          </a:ln>
        </p:spPr>
        <p:style>
          <a:lnRef idx="0"/>
          <a:fillRef idx="0"/>
          <a:effectRef idx="0"/>
          <a:fontRef idx="minor"/>
        </p:style>
        <p:txBody>
          <a:bodyPr lIns="0" tIns="0" rIns="0" bIns="0" anchor="t">
            <a:spAutoFit/>
          </a:bodyPr>
          <a:p>
            <a:pPr algn="ctr" defTabSz="457200">
              <a:lnSpc>
                <a:spcPct val="130000"/>
              </a:lnSpc>
            </a:pPr>
            <a:r>
              <a:rPr lang="en-US" sz="1200" b="0" i="1" u="none" strike="noStrike">
                <a:solidFill>
                  <a:srgbClr val="4A5570"/>
                </a:solidFill>
                <a:effectLst/>
                <a:uFillTx/>
                <a:latin typeface="Arial"/>
              </a:rPr>
              <a:t>turns long paragraphs</a:t>
            </a:r>
            <a:endParaRPr lang="en-US" sz="1200" b="0" u="none" strike="noStrike">
              <a:solidFill>
                <a:srgbClr val="000000"/>
              </a:solidFill>
              <a:effectLst/>
              <a:uFillTx/>
              <a:latin typeface="Arial"/>
            </a:endParaRPr>
          </a:p>
          <a:p>
            <a:pPr algn="ctr" defTabSz="457200">
              <a:lnSpc>
                <a:spcPct val="130000"/>
              </a:lnSpc>
            </a:pPr>
            <a:r>
              <a:rPr lang="en-US" sz="1200" b="0" i="1" u="none" strike="noStrike">
                <a:solidFill>
                  <a:srgbClr val="4A5570"/>
                </a:solidFill>
                <a:effectLst/>
                <a:uFillTx/>
                <a:latin typeface="Arial"/>
              </a:rPr>
              <a:t>into rules</a:t>
            </a:r>
            <a:endParaRPr lang="en-US" sz="1200" b="0" u="none" strike="noStrike">
              <a:solidFill>
                <a:srgbClr val="000000"/>
              </a:solidFill>
              <a:effectLst/>
              <a:uFillTx/>
              <a:latin typeface="Arial"/>
            </a:endParaRPr>
          </a:p>
        </p:txBody>
      </p:sp>
      <p:sp>
        <p:nvSpPr>
          <p:cNvPr id="104" name="Rounded Rectangle 14"/>
          <p:cNvSpPr/>
          <p:nvPr/>
        </p:nvSpPr>
        <p:spPr>
          <a:xfrm>
            <a:off x="5204160" y="3154680"/>
            <a:ext cx="1782720" cy="1005480"/>
          </a:xfrm>
          <a:prstGeom prst="roundRect">
            <a:avLst>
              <a:gd name="adj" fmla="val 10000"/>
            </a:avLst>
          </a:prstGeom>
          <a:solidFill>
            <a:srgbClr val="EEF3FB"/>
          </a:solidFill>
          <a:ln w="1143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 name="TextBox 15"/>
          <p:cNvSpPr/>
          <p:nvPr/>
        </p:nvSpPr>
        <p:spPr>
          <a:xfrm>
            <a:off x="5204160" y="3447360"/>
            <a:ext cx="1782720" cy="4568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119" strike="noStrike">
                <a:solidFill>
                  <a:srgbClr val="4A88E5"/>
                </a:solidFill>
                <a:effectLst/>
                <a:uFillTx/>
                <a:latin typeface="Arial"/>
              </a:rPr>
              <a:t>CHANGEFEED</a:t>
            </a:r>
            <a:endParaRPr lang="en-US" sz="1400" b="0" u="none" strike="noStrike">
              <a:solidFill>
                <a:srgbClr val="000000"/>
              </a:solidFill>
              <a:effectLst/>
              <a:uFillTx/>
              <a:latin typeface="Arial"/>
            </a:endParaRPr>
          </a:p>
        </p:txBody>
      </p:sp>
      <p:sp>
        <p:nvSpPr>
          <p:cNvPr id="106" name="TextBox 16"/>
          <p:cNvSpPr/>
          <p:nvPr/>
        </p:nvSpPr>
        <p:spPr>
          <a:xfrm>
            <a:off x="5204160" y="4297680"/>
            <a:ext cx="1782720" cy="1005480"/>
          </a:xfrm>
          <a:prstGeom prst="rect">
            <a:avLst/>
          </a:prstGeom>
          <a:noFill/>
          <a:ln w="0">
            <a:noFill/>
          </a:ln>
        </p:spPr>
        <p:style>
          <a:lnRef idx="0"/>
          <a:fillRef idx="0"/>
          <a:effectRef idx="0"/>
          <a:fontRef idx="minor"/>
        </p:style>
        <p:txBody>
          <a:bodyPr lIns="0" tIns="0" rIns="0" bIns="0" anchor="t">
            <a:spAutoFit/>
          </a:bodyPr>
          <a:p>
            <a:pPr algn="ctr" defTabSz="457200">
              <a:lnSpc>
                <a:spcPct val="130000"/>
              </a:lnSpc>
            </a:pPr>
            <a:r>
              <a:rPr lang="en-US" sz="1200" b="0" i="1" u="none" strike="noStrike">
                <a:solidFill>
                  <a:srgbClr val="4A5570"/>
                </a:solidFill>
                <a:effectLst/>
                <a:uFillTx/>
                <a:latin typeface="Arial"/>
              </a:rPr>
              <a:t>detects what</a:t>
            </a:r>
            <a:endParaRPr lang="en-US" sz="1200" b="0" u="none" strike="noStrike">
              <a:solidFill>
                <a:srgbClr val="000000"/>
              </a:solidFill>
              <a:effectLst/>
              <a:uFillTx/>
              <a:latin typeface="Arial"/>
            </a:endParaRPr>
          </a:p>
          <a:p>
            <a:pPr algn="ctr" defTabSz="457200">
              <a:lnSpc>
                <a:spcPct val="130000"/>
              </a:lnSpc>
            </a:pPr>
            <a:r>
              <a:rPr lang="en-US" sz="1200" b="0" i="1" u="none" strike="noStrike">
                <a:solidFill>
                  <a:srgbClr val="4A5570"/>
                </a:solidFill>
                <a:effectLst/>
                <a:uFillTx/>
                <a:latin typeface="Arial"/>
              </a:rPr>
              <a:t>changed between versions</a:t>
            </a:r>
            <a:endParaRPr lang="en-US" sz="1200" b="0" u="none" strike="noStrike">
              <a:solidFill>
                <a:srgbClr val="000000"/>
              </a:solidFill>
              <a:effectLst/>
              <a:uFillTx/>
              <a:latin typeface="Arial"/>
            </a:endParaRPr>
          </a:p>
        </p:txBody>
      </p:sp>
      <p:sp>
        <p:nvSpPr>
          <p:cNvPr id="107" name="Rounded Rectangle 17"/>
          <p:cNvSpPr/>
          <p:nvPr/>
        </p:nvSpPr>
        <p:spPr>
          <a:xfrm>
            <a:off x="7532280" y="3154680"/>
            <a:ext cx="1782720" cy="1005480"/>
          </a:xfrm>
          <a:prstGeom prst="roundRect">
            <a:avLst>
              <a:gd name="adj" fmla="val 10000"/>
            </a:avLst>
          </a:prstGeom>
          <a:solidFill>
            <a:srgbClr val="EEF3FB"/>
          </a:solidFill>
          <a:ln w="1143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8" name="TextBox 18"/>
          <p:cNvSpPr/>
          <p:nvPr/>
        </p:nvSpPr>
        <p:spPr>
          <a:xfrm>
            <a:off x="7532280" y="3447360"/>
            <a:ext cx="1782720" cy="4568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119" strike="noStrike">
                <a:solidFill>
                  <a:srgbClr val="4A88E5"/>
                </a:solidFill>
                <a:effectLst/>
                <a:uFillTx/>
                <a:latin typeface="Arial"/>
              </a:rPr>
              <a:t>SCORER</a:t>
            </a:r>
            <a:endParaRPr lang="en-US" sz="1400" b="0" u="none" strike="noStrike">
              <a:solidFill>
                <a:srgbClr val="000000"/>
              </a:solidFill>
              <a:effectLst/>
              <a:uFillTx/>
              <a:latin typeface="Arial"/>
            </a:endParaRPr>
          </a:p>
        </p:txBody>
      </p:sp>
      <p:sp>
        <p:nvSpPr>
          <p:cNvPr id="109" name="TextBox 19"/>
          <p:cNvSpPr/>
          <p:nvPr/>
        </p:nvSpPr>
        <p:spPr>
          <a:xfrm>
            <a:off x="7532280" y="4297680"/>
            <a:ext cx="1782720" cy="1005480"/>
          </a:xfrm>
          <a:prstGeom prst="rect">
            <a:avLst/>
          </a:prstGeom>
          <a:noFill/>
          <a:ln w="0">
            <a:noFill/>
          </a:ln>
        </p:spPr>
        <p:style>
          <a:lnRef idx="0"/>
          <a:fillRef idx="0"/>
          <a:effectRef idx="0"/>
          <a:fontRef idx="minor"/>
        </p:style>
        <p:txBody>
          <a:bodyPr lIns="0" tIns="0" rIns="0" bIns="0" anchor="t">
            <a:spAutoFit/>
          </a:bodyPr>
          <a:p>
            <a:pPr algn="ctr" defTabSz="457200">
              <a:lnSpc>
                <a:spcPct val="130000"/>
              </a:lnSpc>
            </a:pPr>
            <a:r>
              <a:rPr lang="en-US" sz="1200" b="0" i="1" u="none" strike="noStrike">
                <a:solidFill>
                  <a:srgbClr val="4A5570"/>
                </a:solidFill>
                <a:effectLst/>
                <a:uFillTx/>
                <a:latin typeface="Arial"/>
              </a:rPr>
              <a:t>checks a client</a:t>
            </a:r>
            <a:endParaRPr lang="en-US" sz="1200" b="0" u="none" strike="noStrike">
              <a:solidFill>
                <a:srgbClr val="000000"/>
              </a:solidFill>
              <a:effectLst/>
              <a:uFillTx/>
              <a:latin typeface="Arial"/>
            </a:endParaRPr>
          </a:p>
          <a:p>
            <a:pPr algn="ctr" defTabSz="457200">
              <a:lnSpc>
                <a:spcPct val="130000"/>
              </a:lnSpc>
            </a:pPr>
            <a:r>
              <a:rPr lang="en-US" sz="1200" b="0" i="1" u="none" strike="noStrike">
                <a:solidFill>
                  <a:srgbClr val="4A5570"/>
                </a:solidFill>
                <a:effectLst/>
                <a:uFillTx/>
                <a:latin typeface="Arial"/>
              </a:rPr>
              <a:t>against the rules</a:t>
            </a:r>
            <a:endParaRPr lang="en-US" sz="1200" b="0" u="none" strike="noStrike">
              <a:solidFill>
                <a:srgbClr val="000000"/>
              </a:solidFill>
              <a:effectLst/>
              <a:uFillTx/>
              <a:latin typeface="Arial"/>
            </a:endParaRPr>
          </a:p>
        </p:txBody>
      </p:sp>
      <p:sp>
        <p:nvSpPr>
          <p:cNvPr id="110" name="Rounded Rectangle 20"/>
          <p:cNvSpPr/>
          <p:nvPr/>
        </p:nvSpPr>
        <p:spPr>
          <a:xfrm>
            <a:off x="9860040" y="3154680"/>
            <a:ext cx="1782720" cy="1005480"/>
          </a:xfrm>
          <a:prstGeom prst="roundRect">
            <a:avLst>
              <a:gd name="adj" fmla="val 10000"/>
            </a:avLst>
          </a:prstGeom>
          <a:solidFill>
            <a:srgbClr val="EEF3FB"/>
          </a:solidFill>
          <a:ln w="1143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21"/>
          <p:cNvSpPr/>
          <p:nvPr/>
        </p:nvSpPr>
        <p:spPr>
          <a:xfrm>
            <a:off x="9860040" y="3447360"/>
            <a:ext cx="1782720" cy="4568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119" strike="noStrike">
                <a:solidFill>
                  <a:srgbClr val="4A88E5"/>
                </a:solidFill>
                <a:effectLst/>
                <a:uFillTx/>
                <a:latin typeface="Arial"/>
              </a:rPr>
              <a:t>EVALUATOR</a:t>
            </a:r>
            <a:endParaRPr lang="en-US" sz="1400" b="0" u="none" strike="noStrike">
              <a:solidFill>
                <a:srgbClr val="000000"/>
              </a:solidFill>
              <a:effectLst/>
              <a:uFillTx/>
              <a:latin typeface="Arial"/>
            </a:endParaRPr>
          </a:p>
        </p:txBody>
      </p:sp>
      <p:sp>
        <p:nvSpPr>
          <p:cNvPr id="112" name="TextBox 22"/>
          <p:cNvSpPr/>
          <p:nvPr/>
        </p:nvSpPr>
        <p:spPr>
          <a:xfrm>
            <a:off x="9860040" y="4297680"/>
            <a:ext cx="1782720" cy="1005480"/>
          </a:xfrm>
          <a:prstGeom prst="rect">
            <a:avLst/>
          </a:prstGeom>
          <a:noFill/>
          <a:ln w="0">
            <a:noFill/>
          </a:ln>
        </p:spPr>
        <p:style>
          <a:lnRef idx="0"/>
          <a:fillRef idx="0"/>
          <a:effectRef idx="0"/>
          <a:fontRef idx="minor"/>
        </p:style>
        <p:txBody>
          <a:bodyPr lIns="0" tIns="0" rIns="0" bIns="0" anchor="t">
            <a:spAutoFit/>
          </a:bodyPr>
          <a:p>
            <a:pPr algn="ctr" defTabSz="457200">
              <a:lnSpc>
                <a:spcPct val="130000"/>
              </a:lnSpc>
            </a:pPr>
            <a:r>
              <a:rPr lang="en-US" sz="1200" b="0" i="1" u="none" strike="noStrike">
                <a:solidFill>
                  <a:srgbClr val="4A5570"/>
                </a:solidFill>
                <a:effectLst/>
                <a:uFillTx/>
                <a:latin typeface="Arial"/>
              </a:rPr>
              <a:t>keeps the system</a:t>
            </a:r>
            <a:endParaRPr lang="en-US" sz="1200" b="0" u="none" strike="noStrike">
              <a:solidFill>
                <a:srgbClr val="000000"/>
              </a:solidFill>
              <a:effectLst/>
              <a:uFillTx/>
              <a:latin typeface="Arial"/>
            </a:endParaRPr>
          </a:p>
          <a:p>
            <a:pPr algn="ctr" defTabSz="457200">
              <a:lnSpc>
                <a:spcPct val="130000"/>
              </a:lnSpc>
            </a:pPr>
            <a:r>
              <a:rPr lang="en-US" sz="1200" b="0" i="1" u="none" strike="noStrike">
                <a:solidFill>
                  <a:srgbClr val="4A5570"/>
                </a:solidFill>
                <a:effectLst/>
                <a:uFillTx/>
                <a:latin typeface="Arial"/>
              </a:rPr>
              <a:t>itself honest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113"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1A1F2E"/>
                </a:solidFill>
                <a:effectLst/>
                <a:uFillTx/>
                <a:latin typeface="Arial"/>
              </a:rPr>
              <a:t>glomotec</a:t>
            </a:r>
            <a:endParaRPr lang="en-US" sz="1400" b="0" u="none" strike="noStrike">
              <a:solidFill>
                <a:srgbClr val="000000"/>
              </a:solidFill>
              <a:effectLst/>
              <a:uFillTx/>
              <a:latin typeface="Arial"/>
            </a:endParaRPr>
          </a:p>
        </p:txBody>
      </p:sp>
      <p:sp>
        <p:nvSpPr>
          <p:cNvPr id="114" name="TextBox 2"/>
          <p:cNvSpPr/>
          <p:nvPr/>
        </p:nvSpPr>
        <p:spPr>
          <a:xfrm>
            <a:off x="548640" y="1280160"/>
            <a:ext cx="914364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6B86A6"/>
                </a:solidFill>
                <a:effectLst/>
                <a:uFillTx/>
                <a:latin typeface="Arial"/>
              </a:rPr>
              <a:t>04  ·  THE BIGGEST DECISION</a:t>
            </a:r>
            <a:endParaRPr lang="en-US" sz="1100" b="0" u="none" strike="noStrike">
              <a:solidFill>
                <a:srgbClr val="000000"/>
              </a:solidFill>
              <a:effectLst/>
              <a:uFillTx/>
              <a:latin typeface="Arial"/>
            </a:endParaRPr>
          </a:p>
        </p:txBody>
      </p:sp>
      <p:sp>
        <p:nvSpPr>
          <p:cNvPr id="115" name="TextBox 3"/>
          <p:cNvSpPr/>
          <p:nvPr/>
        </p:nvSpPr>
        <p:spPr>
          <a:xfrm>
            <a:off x="548640" y="1737360"/>
            <a:ext cx="11091240" cy="8226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4000" b="1" u="none" strike="noStrike">
                <a:solidFill>
                  <a:srgbClr val="0B1B2E"/>
                </a:solidFill>
                <a:effectLst/>
                <a:uFillTx/>
                <a:latin typeface="Arial"/>
              </a:rPr>
              <a:t>Store rules as data, not as text.</a:t>
            </a:r>
            <a:endParaRPr lang="en-US" sz="4000" b="0" u="none" strike="noStrike">
              <a:solidFill>
                <a:srgbClr val="000000"/>
              </a:solidFill>
              <a:effectLst/>
              <a:uFillTx/>
              <a:latin typeface="Arial"/>
            </a:endParaRPr>
          </a:p>
        </p:txBody>
      </p:sp>
      <p:sp>
        <p:nvSpPr>
          <p:cNvPr id="116" name="Rounded Rectangle 4"/>
          <p:cNvSpPr/>
          <p:nvPr/>
        </p:nvSpPr>
        <p:spPr>
          <a:xfrm>
            <a:off x="548640" y="3108960"/>
            <a:ext cx="5364000" cy="2468520"/>
          </a:xfrm>
          <a:prstGeom prst="roundRect">
            <a:avLst>
              <a:gd name="adj" fmla="val 10000"/>
            </a:avLst>
          </a:prstGeom>
          <a:solidFill>
            <a:srgbClr val="F7F5EE"/>
          </a:solidFill>
          <a:ln>
            <a:solidFill>
              <a:srgbClr val="6B86A6"/>
            </a:solidFill>
            <a:prstDash val="dash"/>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7" name="TextBox 5"/>
          <p:cNvSpPr/>
          <p:nvPr/>
        </p:nvSpPr>
        <p:spPr>
          <a:xfrm>
            <a:off x="914400" y="3337560"/>
            <a:ext cx="463248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6B86A6"/>
                </a:solidFill>
                <a:effectLst/>
                <a:uFillTx/>
                <a:latin typeface="Arial"/>
              </a:rPr>
              <a:t>TEXT</a:t>
            </a:r>
            <a:endParaRPr lang="en-US" sz="1100" b="0" u="none" strike="noStrike">
              <a:solidFill>
                <a:srgbClr val="000000"/>
              </a:solidFill>
              <a:effectLst/>
              <a:uFillTx/>
              <a:latin typeface="Arial"/>
            </a:endParaRPr>
          </a:p>
        </p:txBody>
      </p:sp>
      <p:sp>
        <p:nvSpPr>
          <p:cNvPr id="118" name="TextBox 6"/>
          <p:cNvSpPr/>
          <p:nvPr/>
        </p:nvSpPr>
        <p:spPr>
          <a:xfrm>
            <a:off x="914400" y="3886200"/>
            <a:ext cx="4632480" cy="1462680"/>
          </a:xfrm>
          <a:prstGeom prst="rect">
            <a:avLst/>
          </a:prstGeom>
          <a:noFill/>
          <a:ln w="0">
            <a:noFill/>
          </a:ln>
        </p:spPr>
        <p:style>
          <a:lnRef idx="0"/>
          <a:fillRef idx="0"/>
          <a:effectRef idx="0"/>
          <a:fontRef idx="minor"/>
        </p:style>
        <p:txBody>
          <a:bodyPr lIns="0" tIns="0" rIns="0" bIns="0" anchor="t">
            <a:spAutoFit/>
          </a:bodyPr>
          <a:p>
            <a:pPr defTabSz="457200">
              <a:lnSpc>
                <a:spcPct val="140000"/>
              </a:lnSpc>
            </a:pPr>
            <a:r>
              <a:rPr lang="en-US" sz="1800" b="0" i="1" u="none" strike="noStrike">
                <a:solidFill>
                  <a:srgbClr val="2C3A55"/>
                </a:solidFill>
                <a:effectLst/>
                <a:uFillTx/>
                <a:latin typeface="Arial"/>
              </a:rPr>
              <a:t>“An applicant must be 18 or over and must have endorsement from an approved body.”</a:t>
            </a:r>
            <a:endParaRPr lang="en-US" sz="1800" b="0" u="none" strike="noStrike">
              <a:solidFill>
                <a:srgbClr val="000000"/>
              </a:solidFill>
              <a:effectLst/>
              <a:uFillTx/>
              <a:latin typeface="Arial"/>
            </a:endParaRPr>
          </a:p>
        </p:txBody>
      </p:sp>
      <p:sp>
        <p:nvSpPr>
          <p:cNvPr id="119" name="Rounded Rectangle 7"/>
          <p:cNvSpPr/>
          <p:nvPr/>
        </p:nvSpPr>
        <p:spPr>
          <a:xfrm>
            <a:off x="6278760" y="3108960"/>
            <a:ext cx="5364000" cy="2468520"/>
          </a:xfrm>
          <a:prstGeom prst="roundRect">
            <a:avLst>
              <a:gd name="adj" fmla="val 10000"/>
            </a:avLst>
          </a:prstGeom>
          <a:solidFill>
            <a:srgbClr val="EEF3FB"/>
          </a:solidFill>
          <a:ln w="1270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TextBox 8"/>
          <p:cNvSpPr/>
          <p:nvPr/>
        </p:nvSpPr>
        <p:spPr>
          <a:xfrm>
            <a:off x="6644520" y="3337560"/>
            <a:ext cx="463248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4A88E5"/>
                </a:solidFill>
                <a:effectLst/>
                <a:uFillTx/>
                <a:latin typeface="Arial"/>
              </a:rPr>
              <a:t>STRUCTURED</a:t>
            </a:r>
            <a:endParaRPr lang="en-US" sz="1100" b="0" u="none" strike="noStrike">
              <a:solidFill>
                <a:srgbClr val="000000"/>
              </a:solidFill>
              <a:effectLst/>
              <a:uFillTx/>
              <a:latin typeface="Arial"/>
            </a:endParaRPr>
          </a:p>
        </p:txBody>
      </p:sp>
      <p:sp>
        <p:nvSpPr>
          <p:cNvPr id="121" name="TextBox 9"/>
          <p:cNvSpPr/>
          <p:nvPr/>
        </p:nvSpPr>
        <p:spPr>
          <a:xfrm>
            <a:off x="6644520" y="3840480"/>
            <a:ext cx="4632480" cy="1554120"/>
          </a:xfrm>
          <a:prstGeom prst="rect">
            <a:avLst/>
          </a:prstGeom>
          <a:noFill/>
          <a:ln w="0">
            <a:noFill/>
          </a:ln>
        </p:spPr>
        <p:style>
          <a:lnRef idx="0"/>
          <a:fillRef idx="0"/>
          <a:effectRef idx="0"/>
          <a:fontRef idx="minor"/>
        </p:style>
        <p:txBody>
          <a:bodyPr lIns="0" tIns="0" rIns="0" bIns="0" anchor="t">
            <a:spAutoFit/>
          </a:bodyPr>
          <a:p>
            <a:pPr defTabSz="457200">
              <a:lnSpc>
                <a:spcPct val="145000"/>
              </a:lnSpc>
            </a:pPr>
            <a:r>
              <a:rPr lang="en-US" sz="1500" b="0" u="none" strike="noStrike">
                <a:solidFill>
                  <a:srgbClr val="2C3A55"/>
                </a:solidFill>
                <a:effectLst/>
                <a:uFillTx/>
                <a:latin typeface="Arial"/>
              </a:rPr>
              <a:t>Two separate rules. Each tagged with:</a:t>
            </a:r>
            <a:endParaRPr lang="en-US" sz="1500" b="0" u="none" strike="noStrike">
              <a:solidFill>
                <a:srgbClr val="000000"/>
              </a:solidFill>
              <a:effectLst/>
              <a:uFillTx/>
              <a:latin typeface="Arial"/>
            </a:endParaRPr>
          </a:p>
          <a:p>
            <a:pPr defTabSz="457200">
              <a:lnSpc>
                <a:spcPct val="145000"/>
              </a:lnSpc>
            </a:pPr>
            <a:r>
              <a:rPr lang="en-US" sz="1500" b="0" u="none" strike="noStrike">
                <a:solidFill>
                  <a:srgbClr val="2C3A55"/>
                </a:solidFill>
                <a:effectLst/>
                <a:uFillTx/>
                <a:latin typeface="Arial"/>
              </a:rPr>
              <a:t>·  who must satisfy it</a:t>
            </a:r>
            <a:endParaRPr lang="en-US" sz="1500" b="0" u="none" strike="noStrike">
              <a:solidFill>
                <a:srgbClr val="000000"/>
              </a:solidFill>
              <a:effectLst/>
              <a:uFillTx/>
              <a:latin typeface="Arial"/>
            </a:endParaRPr>
          </a:p>
          <a:p>
            <a:pPr defTabSz="457200">
              <a:lnSpc>
                <a:spcPct val="145000"/>
              </a:lnSpc>
            </a:pPr>
            <a:r>
              <a:rPr lang="en-US" sz="1500" b="0" u="none" strike="noStrike">
                <a:solidFill>
                  <a:srgbClr val="2C3A55"/>
                </a:solidFill>
                <a:effectLst/>
                <a:uFillTx/>
                <a:latin typeface="Arial"/>
              </a:rPr>
              <a:t>·  what evidence proves it</a:t>
            </a:r>
            <a:endParaRPr lang="en-US" sz="1500" b="0" u="none" strike="noStrike">
              <a:solidFill>
                <a:srgbClr val="000000"/>
              </a:solidFill>
              <a:effectLst/>
              <a:uFillTx/>
              <a:latin typeface="Arial"/>
            </a:endParaRPr>
          </a:p>
          <a:p>
            <a:pPr defTabSz="457200">
              <a:lnSpc>
                <a:spcPct val="145000"/>
              </a:lnSpc>
            </a:pPr>
            <a:r>
              <a:rPr lang="en-US" sz="1500" b="0" u="none" strike="noStrike">
                <a:solidFill>
                  <a:srgbClr val="2C3A55"/>
                </a:solidFill>
                <a:effectLst/>
                <a:uFillTx/>
                <a:latin typeface="Arial"/>
              </a:rPr>
              <a:t>·  what the threshold is</a:t>
            </a:r>
            <a:endParaRPr lang="en-US" sz="1500" b="0" u="none" strike="noStrike">
              <a:solidFill>
                <a:srgbClr val="000000"/>
              </a:solidFill>
              <a:effectLst/>
              <a:uFillTx/>
              <a:latin typeface="Arial"/>
            </a:endParaRPr>
          </a:p>
          <a:p>
            <a:pPr defTabSz="457200">
              <a:lnSpc>
                <a:spcPct val="145000"/>
              </a:lnSpc>
            </a:pPr>
            <a:r>
              <a:rPr lang="en-US" sz="1500" b="0" u="none" strike="noStrike">
                <a:solidFill>
                  <a:srgbClr val="2C3A55"/>
                </a:solidFill>
                <a:effectLst/>
                <a:uFillTx/>
                <a:latin typeface="Arial"/>
              </a:rPr>
              <a:t>·  what stage of the journey it applies at</a:t>
            </a:r>
            <a:endParaRPr lang="en-US" sz="1500" b="0" u="none" strike="noStrike">
              <a:solidFill>
                <a:srgbClr val="000000"/>
              </a:solidFill>
              <a:effectLst/>
              <a:uFillTx/>
              <a:latin typeface="Arial"/>
            </a:endParaRPr>
          </a:p>
        </p:txBody>
      </p:sp>
      <p:sp>
        <p:nvSpPr>
          <p:cNvPr id="122" name="TextBox 10"/>
          <p:cNvSpPr/>
          <p:nvPr/>
        </p:nvSpPr>
        <p:spPr>
          <a:xfrm>
            <a:off x="548640" y="5989320"/>
            <a:ext cx="11091240" cy="50256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0" u="none" strike="noStrike">
                <a:solidFill>
                  <a:srgbClr val="4A5570"/>
                </a:solidFill>
                <a:effectLst/>
                <a:uFillTx/>
                <a:latin typeface="Arial"/>
              </a:rPr>
              <a:t>Text can be read. Only structure can be checked, compared across versions, and updated automatically.</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123"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1A1F2E"/>
                </a:solidFill>
                <a:effectLst/>
                <a:uFillTx/>
                <a:latin typeface="Arial"/>
              </a:rPr>
              <a:t>glomotec</a:t>
            </a:r>
            <a:endParaRPr lang="en-US" sz="1400" b="0" u="none" strike="noStrike">
              <a:solidFill>
                <a:srgbClr val="000000"/>
              </a:solidFill>
              <a:effectLst/>
              <a:uFillTx/>
              <a:latin typeface="Arial"/>
            </a:endParaRPr>
          </a:p>
        </p:txBody>
      </p:sp>
      <p:sp>
        <p:nvSpPr>
          <p:cNvPr id="124" name="TextBox 2"/>
          <p:cNvSpPr/>
          <p:nvPr/>
        </p:nvSpPr>
        <p:spPr>
          <a:xfrm>
            <a:off x="548640" y="1280160"/>
            <a:ext cx="731484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6B86A6"/>
                </a:solidFill>
                <a:effectLst/>
                <a:uFillTx/>
                <a:latin typeface="Arial"/>
              </a:rPr>
              <a:t>05  ·  HOW SCORING WORKS</a:t>
            </a:r>
            <a:endParaRPr lang="en-US" sz="1100" b="0" u="none" strike="noStrike">
              <a:solidFill>
                <a:srgbClr val="000000"/>
              </a:solidFill>
              <a:effectLst/>
              <a:uFillTx/>
              <a:latin typeface="Arial"/>
            </a:endParaRPr>
          </a:p>
        </p:txBody>
      </p:sp>
      <p:sp>
        <p:nvSpPr>
          <p:cNvPr id="125" name="TextBox 3"/>
          <p:cNvSpPr/>
          <p:nvPr/>
        </p:nvSpPr>
        <p:spPr>
          <a:xfrm>
            <a:off x="548640" y="1691640"/>
            <a:ext cx="11091240" cy="7768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3200" b="1" u="none" strike="noStrike">
                <a:solidFill>
                  <a:srgbClr val="0B1B2E"/>
                </a:solidFill>
                <a:effectLst/>
                <a:uFillTx/>
                <a:latin typeface="Arial"/>
              </a:rPr>
              <a:t>Three things we check. Four levels of confidence.</a:t>
            </a:r>
            <a:endParaRPr lang="en-US" sz="3200" b="0" u="none" strike="noStrike">
              <a:solidFill>
                <a:srgbClr val="000000"/>
              </a:solidFill>
              <a:effectLst/>
              <a:uFillTx/>
              <a:latin typeface="Arial"/>
            </a:endParaRPr>
          </a:p>
        </p:txBody>
      </p:sp>
      <p:sp>
        <p:nvSpPr>
          <p:cNvPr id="126" name="TextBox 4"/>
          <p:cNvSpPr/>
          <p:nvPr/>
        </p:nvSpPr>
        <p:spPr>
          <a:xfrm>
            <a:off x="548640" y="2468880"/>
            <a:ext cx="11091240" cy="4111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600" b="0" u="none" strike="noStrike">
                <a:solidFill>
                  <a:srgbClr val="4A5570"/>
                </a:solidFill>
                <a:effectLst/>
                <a:uFillTx/>
                <a:latin typeface="Arial"/>
              </a:rPr>
              <a:t>We do not show numbers. We show recommendations.</a:t>
            </a:r>
            <a:endParaRPr lang="en-US" sz="1600" b="0" u="none" strike="noStrike">
              <a:solidFill>
                <a:srgbClr val="000000"/>
              </a:solidFill>
              <a:effectLst/>
              <a:uFillTx/>
              <a:latin typeface="Arial"/>
            </a:endParaRPr>
          </a:p>
        </p:txBody>
      </p:sp>
      <p:sp>
        <p:nvSpPr>
          <p:cNvPr id="127" name="Rounded Rectangle 5"/>
          <p:cNvSpPr/>
          <p:nvPr/>
        </p:nvSpPr>
        <p:spPr>
          <a:xfrm>
            <a:off x="548640" y="2971800"/>
            <a:ext cx="3515040" cy="1325520"/>
          </a:xfrm>
          <a:prstGeom prst="roundRect">
            <a:avLst>
              <a:gd name="adj" fmla="val 10000"/>
            </a:avLst>
          </a:prstGeom>
          <a:solidFill>
            <a:srgbClr val="EEF3FB"/>
          </a:solidFill>
          <a:ln w="1270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8" name="TextBox 6"/>
          <p:cNvSpPr/>
          <p:nvPr/>
        </p:nvSpPr>
        <p:spPr>
          <a:xfrm>
            <a:off x="822960" y="3227760"/>
            <a:ext cx="296640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200" b="1" u="none" spc="201" strike="noStrike">
                <a:solidFill>
                  <a:srgbClr val="4A88E5"/>
                </a:solidFill>
                <a:effectLst/>
                <a:uFillTx/>
                <a:latin typeface="Arial"/>
              </a:rPr>
              <a:t>FIT</a:t>
            </a:r>
            <a:endParaRPr lang="en-US" sz="1200" b="0" u="none" strike="noStrike">
              <a:solidFill>
                <a:srgbClr val="000000"/>
              </a:solidFill>
              <a:effectLst/>
              <a:uFillTx/>
              <a:latin typeface="Arial"/>
            </a:endParaRPr>
          </a:p>
        </p:txBody>
      </p:sp>
      <p:sp>
        <p:nvSpPr>
          <p:cNvPr id="129" name="TextBox 7"/>
          <p:cNvSpPr/>
          <p:nvPr/>
        </p:nvSpPr>
        <p:spPr>
          <a:xfrm>
            <a:off x="822960" y="3684960"/>
            <a:ext cx="2966400" cy="548280"/>
          </a:xfrm>
          <a:prstGeom prst="rect">
            <a:avLst/>
          </a:prstGeom>
          <a:noFill/>
          <a:ln w="0">
            <a:noFill/>
          </a:ln>
        </p:spPr>
        <p:style>
          <a:lnRef idx="0"/>
          <a:fillRef idx="0"/>
          <a:effectRef idx="0"/>
          <a:fontRef idx="minor"/>
        </p:style>
        <p:txBody>
          <a:bodyPr lIns="0" tIns="0" rIns="0" bIns="0" anchor="t">
            <a:spAutoFit/>
          </a:bodyPr>
          <a:p>
            <a:pPr defTabSz="457200">
              <a:lnSpc>
                <a:spcPct val="135000"/>
              </a:lnSpc>
            </a:pPr>
            <a:r>
              <a:rPr lang="en-US" sz="1500" b="0" u="none" strike="noStrike">
                <a:solidFill>
                  <a:srgbClr val="2C3A55"/>
                </a:solidFill>
                <a:effectLst/>
                <a:uFillTx/>
                <a:latin typeface="Arial"/>
              </a:rPr>
              <a:t>Does the applicant fit the route?</a:t>
            </a:r>
            <a:endParaRPr lang="en-US" sz="1500" b="0" u="none" strike="noStrike">
              <a:solidFill>
                <a:srgbClr val="000000"/>
              </a:solidFill>
              <a:effectLst/>
              <a:uFillTx/>
              <a:latin typeface="Arial"/>
            </a:endParaRPr>
          </a:p>
        </p:txBody>
      </p:sp>
      <p:sp>
        <p:nvSpPr>
          <p:cNvPr id="130" name="Rounded Rectangle 8"/>
          <p:cNvSpPr/>
          <p:nvPr/>
        </p:nvSpPr>
        <p:spPr>
          <a:xfrm>
            <a:off x="4338360" y="2971800"/>
            <a:ext cx="3515040" cy="1325520"/>
          </a:xfrm>
          <a:prstGeom prst="roundRect">
            <a:avLst>
              <a:gd name="adj" fmla="val 10000"/>
            </a:avLst>
          </a:prstGeom>
          <a:solidFill>
            <a:srgbClr val="EEF3FB"/>
          </a:solidFill>
          <a:ln w="1270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1" name="TextBox 9"/>
          <p:cNvSpPr/>
          <p:nvPr/>
        </p:nvSpPr>
        <p:spPr>
          <a:xfrm>
            <a:off x="4612680" y="3227760"/>
            <a:ext cx="296640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200" b="1" u="none" spc="201" strike="noStrike">
                <a:solidFill>
                  <a:srgbClr val="4A88E5"/>
                </a:solidFill>
                <a:effectLst/>
                <a:uFillTx/>
                <a:latin typeface="Arial"/>
              </a:rPr>
              <a:t>PAPERWORK</a:t>
            </a:r>
            <a:endParaRPr lang="en-US" sz="1200" b="0" u="none" strike="noStrike">
              <a:solidFill>
                <a:srgbClr val="000000"/>
              </a:solidFill>
              <a:effectLst/>
              <a:uFillTx/>
              <a:latin typeface="Arial"/>
            </a:endParaRPr>
          </a:p>
        </p:txBody>
      </p:sp>
      <p:sp>
        <p:nvSpPr>
          <p:cNvPr id="132" name="TextBox 10"/>
          <p:cNvSpPr/>
          <p:nvPr/>
        </p:nvSpPr>
        <p:spPr>
          <a:xfrm>
            <a:off x="4612680" y="3684960"/>
            <a:ext cx="2966400" cy="548280"/>
          </a:xfrm>
          <a:prstGeom prst="rect">
            <a:avLst/>
          </a:prstGeom>
          <a:noFill/>
          <a:ln w="0">
            <a:noFill/>
          </a:ln>
        </p:spPr>
        <p:style>
          <a:lnRef idx="0"/>
          <a:fillRef idx="0"/>
          <a:effectRef idx="0"/>
          <a:fontRef idx="minor"/>
        </p:style>
        <p:txBody>
          <a:bodyPr lIns="0" tIns="0" rIns="0" bIns="0" anchor="t">
            <a:spAutoFit/>
          </a:bodyPr>
          <a:p>
            <a:pPr defTabSz="457200">
              <a:lnSpc>
                <a:spcPct val="135000"/>
              </a:lnSpc>
            </a:pPr>
            <a:r>
              <a:rPr lang="en-US" sz="1500" b="0" u="none" strike="noStrike">
                <a:solidFill>
                  <a:srgbClr val="2C3A55"/>
                </a:solidFill>
                <a:effectLst/>
                <a:uFillTx/>
                <a:latin typeface="Arial"/>
              </a:rPr>
              <a:t>Is the application complete?</a:t>
            </a:r>
            <a:endParaRPr lang="en-US" sz="1500" b="0" u="none" strike="noStrike">
              <a:solidFill>
                <a:srgbClr val="000000"/>
              </a:solidFill>
              <a:effectLst/>
              <a:uFillTx/>
              <a:latin typeface="Arial"/>
            </a:endParaRPr>
          </a:p>
        </p:txBody>
      </p:sp>
      <p:sp>
        <p:nvSpPr>
          <p:cNvPr id="133" name="Rounded Rectangle 11"/>
          <p:cNvSpPr/>
          <p:nvPr/>
        </p:nvSpPr>
        <p:spPr>
          <a:xfrm>
            <a:off x="8127720" y="2971800"/>
            <a:ext cx="3515040" cy="1325520"/>
          </a:xfrm>
          <a:prstGeom prst="roundRect">
            <a:avLst>
              <a:gd name="adj" fmla="val 10000"/>
            </a:avLst>
          </a:prstGeom>
          <a:solidFill>
            <a:srgbClr val="FBEFE4"/>
          </a:solidFill>
          <a:ln w="12700">
            <a:solidFill>
              <a:srgbClr val="9A451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 name="TextBox 12"/>
          <p:cNvSpPr/>
          <p:nvPr/>
        </p:nvSpPr>
        <p:spPr>
          <a:xfrm>
            <a:off x="8402040" y="3227760"/>
            <a:ext cx="296640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200" b="1" u="none" spc="201" strike="noStrike">
                <a:solidFill>
                  <a:srgbClr val="9A4515"/>
                </a:solidFill>
                <a:effectLst/>
                <a:uFillTx/>
                <a:latin typeface="Arial"/>
              </a:rPr>
              <a:t>SUITABILITY</a:t>
            </a:r>
            <a:endParaRPr lang="en-US" sz="1200" b="0" u="none" strike="noStrike">
              <a:solidFill>
                <a:srgbClr val="000000"/>
              </a:solidFill>
              <a:effectLst/>
              <a:uFillTx/>
              <a:latin typeface="Arial"/>
            </a:endParaRPr>
          </a:p>
        </p:txBody>
      </p:sp>
      <p:sp>
        <p:nvSpPr>
          <p:cNvPr id="135" name="TextBox 13"/>
          <p:cNvSpPr/>
          <p:nvPr/>
        </p:nvSpPr>
        <p:spPr>
          <a:xfrm>
            <a:off x="8402040" y="3684960"/>
            <a:ext cx="2966400" cy="548280"/>
          </a:xfrm>
          <a:prstGeom prst="rect">
            <a:avLst/>
          </a:prstGeom>
          <a:noFill/>
          <a:ln w="0">
            <a:noFill/>
          </a:ln>
        </p:spPr>
        <p:style>
          <a:lnRef idx="0"/>
          <a:fillRef idx="0"/>
          <a:effectRef idx="0"/>
          <a:fontRef idx="minor"/>
        </p:style>
        <p:txBody>
          <a:bodyPr lIns="0" tIns="0" rIns="0" bIns="0" anchor="t">
            <a:spAutoFit/>
          </a:bodyPr>
          <a:p>
            <a:pPr defTabSz="457200">
              <a:lnSpc>
                <a:spcPct val="135000"/>
              </a:lnSpc>
            </a:pPr>
            <a:r>
              <a:rPr lang="en-US" sz="1500" b="0" u="none" strike="noStrike">
                <a:solidFill>
                  <a:srgbClr val="2C3A55"/>
                </a:solidFill>
                <a:effectLst/>
                <a:uFillTx/>
                <a:latin typeface="Arial"/>
              </a:rPr>
              <a:t>Could the case be refused for another reason?</a:t>
            </a:r>
            <a:endParaRPr lang="en-US" sz="1500" b="0" u="none" strike="noStrike">
              <a:solidFill>
                <a:srgbClr val="000000"/>
              </a:solidFill>
              <a:effectLst/>
              <a:uFillTx/>
              <a:latin typeface="Arial"/>
            </a:endParaRPr>
          </a:p>
        </p:txBody>
      </p:sp>
      <p:sp>
        <p:nvSpPr>
          <p:cNvPr id="136" name="Rectangle 14"/>
          <p:cNvSpPr/>
          <p:nvPr/>
        </p:nvSpPr>
        <p:spPr>
          <a:xfrm>
            <a:off x="548640" y="4754880"/>
            <a:ext cx="2773080" cy="639720"/>
          </a:xfrm>
          <a:prstGeom prst="rect">
            <a:avLst/>
          </a:prstGeom>
          <a:solidFill>
            <a:srgbClr val="F2DEDB"/>
          </a:solidFill>
          <a:ln w="6350">
            <a:solidFill>
              <a:srgbClr val="A2371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7" name="TextBox 15"/>
          <p:cNvSpPr/>
          <p:nvPr/>
        </p:nvSpPr>
        <p:spPr>
          <a:xfrm>
            <a:off x="548640" y="4873680"/>
            <a:ext cx="277308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1" u="none" spc="201" strike="noStrike">
                <a:solidFill>
                  <a:srgbClr val="A23710"/>
                </a:solidFill>
                <a:effectLst/>
                <a:uFillTx/>
                <a:latin typeface="Arial"/>
              </a:rPr>
              <a:t>BELOW THRESHOLD</a:t>
            </a:r>
            <a:endParaRPr lang="en-US" sz="1100" b="0" u="none" strike="noStrike">
              <a:solidFill>
                <a:srgbClr val="000000"/>
              </a:solidFill>
              <a:effectLst/>
              <a:uFillTx/>
              <a:latin typeface="Arial"/>
            </a:endParaRPr>
          </a:p>
        </p:txBody>
      </p:sp>
      <p:sp>
        <p:nvSpPr>
          <p:cNvPr id="138" name="TextBox 16"/>
          <p:cNvSpPr/>
          <p:nvPr/>
        </p:nvSpPr>
        <p:spPr>
          <a:xfrm>
            <a:off x="548640" y="5504760"/>
            <a:ext cx="277308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300" b="1" u="none" strike="noStrike">
                <a:solidFill>
                  <a:srgbClr val="2C3A55"/>
                </a:solidFill>
                <a:effectLst/>
                <a:uFillTx/>
                <a:latin typeface="Arial"/>
              </a:rPr>
              <a:t>Do not submit</a:t>
            </a:r>
            <a:endParaRPr lang="en-US" sz="1300" b="0" u="none" strike="noStrike">
              <a:solidFill>
                <a:srgbClr val="000000"/>
              </a:solidFill>
              <a:effectLst/>
              <a:uFillTx/>
              <a:latin typeface="Arial"/>
            </a:endParaRPr>
          </a:p>
        </p:txBody>
      </p:sp>
      <p:sp>
        <p:nvSpPr>
          <p:cNvPr id="139" name="Rectangle 17"/>
          <p:cNvSpPr/>
          <p:nvPr/>
        </p:nvSpPr>
        <p:spPr>
          <a:xfrm>
            <a:off x="3322080" y="4754880"/>
            <a:ext cx="2773080" cy="639720"/>
          </a:xfrm>
          <a:prstGeom prst="rect">
            <a:avLst/>
          </a:prstGeom>
          <a:solidFill>
            <a:srgbClr val="FFEAD3"/>
          </a:solidFill>
          <a:ln w="6350">
            <a:solidFill>
              <a:srgbClr val="76610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 name="TextBox 18"/>
          <p:cNvSpPr/>
          <p:nvPr/>
        </p:nvSpPr>
        <p:spPr>
          <a:xfrm>
            <a:off x="3322080" y="4873680"/>
            <a:ext cx="277308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1" u="none" spc="201" strike="noStrike">
                <a:solidFill>
                  <a:srgbClr val="76610C"/>
                </a:solidFill>
                <a:effectLst/>
                <a:uFillTx/>
                <a:latin typeface="Arial"/>
              </a:rPr>
              <a:t>LOW</a:t>
            </a:r>
            <a:endParaRPr lang="en-US" sz="1100" b="0" u="none" strike="noStrike">
              <a:solidFill>
                <a:srgbClr val="000000"/>
              </a:solidFill>
              <a:effectLst/>
              <a:uFillTx/>
              <a:latin typeface="Arial"/>
            </a:endParaRPr>
          </a:p>
        </p:txBody>
      </p:sp>
      <p:sp>
        <p:nvSpPr>
          <p:cNvPr id="141" name="TextBox 19"/>
          <p:cNvSpPr/>
          <p:nvPr/>
        </p:nvSpPr>
        <p:spPr>
          <a:xfrm>
            <a:off x="3322080" y="5504760"/>
            <a:ext cx="277308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300" b="1" u="none" strike="noStrike">
                <a:solidFill>
                  <a:srgbClr val="2C3A55"/>
                </a:solidFill>
                <a:effectLst/>
                <a:uFillTx/>
                <a:latin typeface="Arial"/>
              </a:rPr>
              <a:t>Get more evidence</a:t>
            </a:r>
            <a:endParaRPr lang="en-US" sz="1300" b="0" u="none" strike="noStrike">
              <a:solidFill>
                <a:srgbClr val="000000"/>
              </a:solidFill>
              <a:effectLst/>
              <a:uFillTx/>
              <a:latin typeface="Arial"/>
            </a:endParaRPr>
          </a:p>
        </p:txBody>
      </p:sp>
      <p:sp>
        <p:nvSpPr>
          <p:cNvPr id="142" name="Rectangle 20"/>
          <p:cNvSpPr/>
          <p:nvPr/>
        </p:nvSpPr>
        <p:spPr>
          <a:xfrm>
            <a:off x="6095880" y="4754880"/>
            <a:ext cx="2773080" cy="639720"/>
          </a:xfrm>
          <a:prstGeom prst="rect">
            <a:avLst/>
          </a:prstGeom>
          <a:solidFill>
            <a:srgbClr val="FFF8DA"/>
          </a:solidFill>
          <a:ln w="6350">
            <a:solidFill>
              <a:srgbClr val="76610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 name="TextBox 21"/>
          <p:cNvSpPr/>
          <p:nvPr/>
        </p:nvSpPr>
        <p:spPr>
          <a:xfrm>
            <a:off x="6095880" y="4873680"/>
            <a:ext cx="277308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1" u="none" spc="201" strike="noStrike">
                <a:solidFill>
                  <a:srgbClr val="76610C"/>
                </a:solidFill>
                <a:effectLst/>
                <a:uFillTx/>
                <a:latin typeface="Arial"/>
              </a:rPr>
              <a:t>MEDIUM</a:t>
            </a:r>
            <a:endParaRPr lang="en-US" sz="1100" b="0" u="none" strike="noStrike">
              <a:solidFill>
                <a:srgbClr val="000000"/>
              </a:solidFill>
              <a:effectLst/>
              <a:uFillTx/>
              <a:latin typeface="Arial"/>
            </a:endParaRPr>
          </a:p>
        </p:txBody>
      </p:sp>
      <p:sp>
        <p:nvSpPr>
          <p:cNvPr id="144" name="TextBox 22"/>
          <p:cNvSpPr/>
          <p:nvPr/>
        </p:nvSpPr>
        <p:spPr>
          <a:xfrm>
            <a:off x="6095880" y="5504760"/>
            <a:ext cx="277308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300" b="1" u="none" strike="noStrike">
                <a:solidFill>
                  <a:srgbClr val="2C3A55"/>
                </a:solidFill>
                <a:effectLst/>
                <a:uFillTx/>
                <a:latin typeface="Arial"/>
              </a:rPr>
              <a:t>Advisor review</a:t>
            </a:r>
            <a:endParaRPr lang="en-US" sz="1300" b="0" u="none" strike="noStrike">
              <a:solidFill>
                <a:srgbClr val="000000"/>
              </a:solidFill>
              <a:effectLst/>
              <a:uFillTx/>
              <a:latin typeface="Arial"/>
            </a:endParaRPr>
          </a:p>
        </p:txBody>
      </p:sp>
      <p:sp>
        <p:nvSpPr>
          <p:cNvPr id="145" name="Rectangle 23"/>
          <p:cNvSpPr/>
          <p:nvPr/>
        </p:nvSpPr>
        <p:spPr>
          <a:xfrm>
            <a:off x="8869320" y="4754880"/>
            <a:ext cx="2773080" cy="639720"/>
          </a:xfrm>
          <a:prstGeom prst="rect">
            <a:avLst/>
          </a:prstGeom>
          <a:solidFill>
            <a:srgbClr val="E2EED9"/>
          </a:solidFill>
          <a:ln w="6350">
            <a:solidFill>
              <a:srgbClr val="3F5A2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 name="TextBox 24"/>
          <p:cNvSpPr/>
          <p:nvPr/>
        </p:nvSpPr>
        <p:spPr>
          <a:xfrm>
            <a:off x="8869320" y="4873680"/>
            <a:ext cx="277308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1" u="none" spc="201" strike="noStrike">
                <a:solidFill>
                  <a:srgbClr val="3F5A28"/>
                </a:solidFill>
                <a:effectLst/>
                <a:uFillTx/>
                <a:latin typeface="Arial"/>
              </a:rPr>
              <a:t>HIGH</a:t>
            </a:r>
            <a:endParaRPr lang="en-US" sz="1100" b="0" u="none" strike="noStrike">
              <a:solidFill>
                <a:srgbClr val="000000"/>
              </a:solidFill>
              <a:effectLst/>
              <a:uFillTx/>
              <a:latin typeface="Arial"/>
            </a:endParaRPr>
          </a:p>
        </p:txBody>
      </p:sp>
      <p:sp>
        <p:nvSpPr>
          <p:cNvPr id="147" name="TextBox 25"/>
          <p:cNvSpPr/>
          <p:nvPr/>
        </p:nvSpPr>
        <p:spPr>
          <a:xfrm>
            <a:off x="8869320" y="5504760"/>
            <a:ext cx="277308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300" b="1" u="none" strike="noStrike">
                <a:solidFill>
                  <a:srgbClr val="2C3A55"/>
                </a:solidFill>
                <a:effectLst/>
                <a:uFillTx/>
                <a:latin typeface="Arial"/>
              </a:rPr>
              <a:t>Recommend submission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B2E"/>
        </a:solidFill>
      </p:bgPr>
    </p:bg>
    <p:spTree>
      <p:nvGrpSpPr>
        <p:cNvPr id="1" name=""/>
        <p:cNvGrpSpPr/>
        <p:nvPr/>
      </p:nvGrpSpPr>
      <p:grpSpPr>
        <a:xfrm>
          <a:off x="0" y="0"/>
          <a:ext cx="0" cy="0"/>
          <a:chOff x="0" y="0"/>
          <a:chExt cx="0" cy="0"/>
        </a:xfrm>
      </p:grpSpPr>
      <p:sp>
        <p:nvSpPr>
          <p:cNvPr id="148"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F7F5EE"/>
                </a:solidFill>
                <a:effectLst/>
                <a:uFillTx/>
                <a:latin typeface="Arial"/>
              </a:rPr>
              <a:t>glomotec</a:t>
            </a:r>
            <a:endParaRPr lang="en-US" sz="1400" b="0" u="none" strike="noStrike">
              <a:solidFill>
                <a:srgbClr val="FFFFFF"/>
              </a:solidFill>
              <a:effectLst/>
              <a:uFillTx/>
              <a:latin typeface="Arial"/>
            </a:endParaRPr>
          </a:p>
        </p:txBody>
      </p:sp>
      <p:sp>
        <p:nvSpPr>
          <p:cNvPr id="149" name="TextBox 2"/>
          <p:cNvSpPr/>
          <p:nvPr/>
        </p:nvSpPr>
        <p:spPr>
          <a:xfrm>
            <a:off x="548640" y="2286000"/>
            <a:ext cx="1109124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6B86A6"/>
                </a:solidFill>
                <a:effectLst/>
                <a:uFillTx/>
                <a:latin typeface="Arial"/>
              </a:rPr>
              <a:t>LIVE</a:t>
            </a:r>
            <a:endParaRPr lang="en-US" sz="1100" b="0" u="none" strike="noStrike">
              <a:solidFill>
                <a:srgbClr val="FFFFFF"/>
              </a:solidFill>
              <a:effectLst/>
              <a:uFillTx/>
              <a:latin typeface="Arial"/>
            </a:endParaRPr>
          </a:p>
        </p:txBody>
      </p:sp>
      <p:sp>
        <p:nvSpPr>
          <p:cNvPr id="150" name="TextBox 3"/>
          <p:cNvSpPr/>
          <p:nvPr/>
        </p:nvSpPr>
        <p:spPr>
          <a:xfrm>
            <a:off x="548640" y="2788920"/>
            <a:ext cx="11091240" cy="14626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6400" b="1" u="none" strike="noStrike">
                <a:solidFill>
                  <a:srgbClr val="F7F5EE"/>
                </a:solidFill>
                <a:effectLst/>
                <a:uFillTx/>
                <a:latin typeface="Arial"/>
              </a:rPr>
              <a:t>index-advisor.vercel.app</a:t>
            </a:r>
            <a:endParaRPr lang="en-US" sz="6400" b="0" u="none" strike="noStrike">
              <a:solidFill>
                <a:srgbClr val="FFFFFF"/>
              </a:solidFill>
              <a:effectLst/>
              <a:uFillTx/>
              <a:latin typeface="Arial"/>
            </a:endParaRPr>
          </a:p>
        </p:txBody>
      </p:sp>
      <p:sp>
        <p:nvSpPr>
          <p:cNvPr id="151" name="TextBox 4"/>
          <p:cNvSpPr/>
          <p:nvPr/>
        </p:nvSpPr>
        <p:spPr>
          <a:xfrm>
            <a:off x="548640" y="4434840"/>
            <a:ext cx="11091240" cy="4568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2200" b="0" u="none" strike="noStrike">
                <a:solidFill>
                  <a:srgbClr val="F7F5EE"/>
                </a:solidFill>
                <a:effectLst/>
                <a:uFillTx/>
                <a:latin typeface="Arial"/>
              </a:rPr>
              <a:t>One system, two surfaces.</a:t>
            </a:r>
            <a:endParaRPr lang="en-US" sz="2200" b="0" u="none" strike="noStrike">
              <a:solidFill>
                <a:srgbClr val="FFFFFF"/>
              </a:solidFill>
              <a:effectLst/>
              <a:uFillTx/>
              <a:latin typeface="Arial"/>
            </a:endParaRPr>
          </a:p>
        </p:txBody>
      </p:sp>
      <p:sp>
        <p:nvSpPr>
          <p:cNvPr id="152" name="TextBox 5"/>
          <p:cNvSpPr/>
          <p:nvPr/>
        </p:nvSpPr>
        <p:spPr>
          <a:xfrm>
            <a:off x="548640" y="4937760"/>
            <a:ext cx="11091240" cy="45684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600" b="0" u="none" strike="noStrike">
                <a:solidFill>
                  <a:srgbClr val="6B86A6"/>
                </a:solidFill>
                <a:effectLst/>
                <a:uFillTx/>
                <a:latin typeface="Arial"/>
              </a:rPr>
              <a:t>For advisors. For new prospects.</a:t>
            </a:r>
            <a:endParaRPr lang="en-US" sz="1600" b="0" u="none" strike="noStrike">
              <a:solidFill>
                <a:srgbClr val="FFFFFF"/>
              </a:solidFill>
              <a:effectLst/>
              <a:uFillTx/>
              <a:latin typeface="Arial"/>
            </a:endParaRPr>
          </a:p>
        </p:txBody>
      </p:sp>
      <p:sp>
        <p:nvSpPr>
          <p:cNvPr id="153" name="TextBox 6"/>
          <p:cNvSpPr/>
          <p:nvPr/>
        </p:nvSpPr>
        <p:spPr>
          <a:xfrm>
            <a:off x="548640" y="5943600"/>
            <a:ext cx="4815360" cy="3196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1" u="none" spc="300" strike="noStrike">
                <a:solidFill>
                  <a:srgbClr val="4A88E5"/>
                </a:solidFill>
                <a:effectLst/>
                <a:uFillTx/>
                <a:latin typeface="Arial"/>
              </a:rPr>
              <a:t>FOR ADVISORS  ·  /clients</a:t>
            </a:r>
            <a:endParaRPr lang="en-US" sz="1100" b="0" u="none" strike="noStrike">
              <a:solidFill>
                <a:srgbClr val="FFFFFF"/>
              </a:solidFill>
              <a:effectLst/>
              <a:uFillTx/>
              <a:latin typeface="Arial"/>
            </a:endParaRPr>
          </a:p>
        </p:txBody>
      </p:sp>
      <p:sp>
        <p:nvSpPr>
          <p:cNvPr id="154" name="TextBox 7"/>
          <p:cNvSpPr/>
          <p:nvPr/>
        </p:nvSpPr>
        <p:spPr>
          <a:xfrm>
            <a:off x="548640" y="6309360"/>
            <a:ext cx="4815360" cy="3196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0" u="none" spc="201" strike="noStrike">
                <a:solidFill>
                  <a:srgbClr val="6B86A6"/>
                </a:solidFill>
                <a:effectLst/>
                <a:uFillTx/>
                <a:latin typeface="Arial"/>
              </a:rPr>
              <a:t>CRAWLER  ·  EXTRACTOR  ·  CHANGEFEED  ·  SCORER  ·  EVALUATOR</a:t>
            </a:r>
            <a:endParaRPr lang="en-US" sz="1100" b="0" u="none" strike="noStrike">
              <a:solidFill>
                <a:srgbClr val="FFFFFF"/>
              </a:solidFill>
              <a:effectLst/>
              <a:uFillTx/>
              <a:latin typeface="Arial"/>
            </a:endParaRPr>
          </a:p>
        </p:txBody>
      </p:sp>
      <p:sp>
        <p:nvSpPr>
          <p:cNvPr id="155" name="TextBox 8"/>
          <p:cNvSpPr/>
          <p:nvPr/>
        </p:nvSpPr>
        <p:spPr>
          <a:xfrm>
            <a:off x="6827400" y="5943600"/>
            <a:ext cx="4815360" cy="3196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1" u="none" spc="300" strike="noStrike">
                <a:solidFill>
                  <a:srgbClr val="4A88E5"/>
                </a:solidFill>
                <a:effectLst/>
                <a:uFillTx/>
                <a:latin typeface="Arial"/>
              </a:rPr>
              <a:t>FOR PROSPECTS  ·  /signal</a:t>
            </a:r>
            <a:endParaRPr lang="en-US" sz="1100" b="0" u="none" strike="noStrike">
              <a:solidFill>
                <a:srgbClr val="FFFFFF"/>
              </a:solidFill>
              <a:effectLst/>
              <a:uFillTx/>
              <a:latin typeface="Arial"/>
            </a:endParaRPr>
          </a:p>
        </p:txBody>
      </p:sp>
      <p:sp>
        <p:nvSpPr>
          <p:cNvPr id="156" name="TextBox 9"/>
          <p:cNvSpPr/>
          <p:nvPr/>
        </p:nvSpPr>
        <p:spPr>
          <a:xfrm>
            <a:off x="6827400" y="6309360"/>
            <a:ext cx="4815360" cy="31968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100" b="0" u="none" spc="201" strike="noStrike">
                <a:solidFill>
                  <a:srgbClr val="6B86A6"/>
                </a:solidFill>
                <a:effectLst/>
                <a:uFillTx/>
                <a:latin typeface="Arial"/>
              </a:rPr>
              <a:t>SCORER (substantive only)</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157"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1A1F2E"/>
                </a:solidFill>
                <a:effectLst/>
                <a:uFillTx/>
                <a:latin typeface="Arial"/>
              </a:rPr>
              <a:t>glomotec</a:t>
            </a:r>
            <a:endParaRPr lang="en-US" sz="1400" b="0" u="none" strike="noStrike">
              <a:solidFill>
                <a:srgbClr val="000000"/>
              </a:solidFill>
              <a:effectLst/>
              <a:uFillTx/>
              <a:latin typeface="Arial"/>
            </a:endParaRPr>
          </a:p>
        </p:txBody>
      </p:sp>
      <p:sp>
        <p:nvSpPr>
          <p:cNvPr id="158" name="TextBox 2"/>
          <p:cNvSpPr/>
          <p:nvPr/>
        </p:nvSpPr>
        <p:spPr>
          <a:xfrm>
            <a:off x="548640" y="1280160"/>
            <a:ext cx="7314840" cy="31968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00" b="1" u="none" spc="201" strike="noStrike">
                <a:solidFill>
                  <a:srgbClr val="6B86A6"/>
                </a:solidFill>
                <a:effectLst/>
                <a:uFillTx/>
                <a:latin typeface="Arial"/>
              </a:rPr>
              <a:t>06  ·  WHAT I LEARNED</a:t>
            </a:r>
            <a:endParaRPr lang="en-US" sz="1100" b="0" u="none" strike="noStrike">
              <a:solidFill>
                <a:srgbClr val="000000"/>
              </a:solidFill>
              <a:effectLst/>
              <a:uFillTx/>
              <a:latin typeface="Arial"/>
            </a:endParaRPr>
          </a:p>
        </p:txBody>
      </p:sp>
      <p:sp>
        <p:nvSpPr>
          <p:cNvPr id="159" name="TextBox 3"/>
          <p:cNvSpPr/>
          <p:nvPr/>
        </p:nvSpPr>
        <p:spPr>
          <a:xfrm>
            <a:off x="548640" y="1737360"/>
            <a:ext cx="11091240" cy="95976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3000" b="1" u="none" strike="noStrike">
                <a:solidFill>
                  <a:srgbClr val="0B1B2E"/>
                </a:solidFill>
                <a:effectLst/>
                <a:uFillTx/>
                <a:latin typeface="Arial"/>
              </a:rPr>
              <a:t>I asked the person who runs this work every day.</a:t>
            </a:r>
            <a:endParaRPr lang="en-US" sz="3000" b="0" u="none" strike="noStrike">
              <a:solidFill>
                <a:srgbClr val="000000"/>
              </a:solidFill>
              <a:effectLst/>
              <a:uFillTx/>
              <a:latin typeface="Arial"/>
            </a:endParaRPr>
          </a:p>
        </p:txBody>
      </p:sp>
      <p:sp>
        <p:nvSpPr>
          <p:cNvPr id="160" name="TextBox 4"/>
          <p:cNvSpPr/>
          <p:nvPr/>
        </p:nvSpPr>
        <p:spPr>
          <a:xfrm>
            <a:off x="548640" y="3291840"/>
            <a:ext cx="11091240" cy="1279800"/>
          </a:xfrm>
          <a:prstGeom prst="rect">
            <a:avLst/>
          </a:prstGeom>
          <a:noFill/>
          <a:ln w="0">
            <a:noFill/>
          </a:ln>
        </p:spPr>
        <p:style>
          <a:lnRef idx="0"/>
          <a:fillRef idx="0"/>
          <a:effectRef idx="0"/>
          <a:fontRef idx="minor"/>
        </p:style>
        <p:txBody>
          <a:bodyPr lIns="0" tIns="0" rIns="0" bIns="0" anchor="ctr">
            <a:spAutoFit/>
          </a:bodyPr>
          <a:p>
            <a:pPr algn="ctr" defTabSz="457200">
              <a:lnSpc>
                <a:spcPct val="120000"/>
              </a:lnSpc>
            </a:pPr>
            <a:r>
              <a:rPr lang="en-US" sz="4000" b="1" u="none" strike="noStrike">
                <a:solidFill>
                  <a:srgbClr val="0B1B2E"/>
                </a:solidFill>
                <a:effectLst/>
                <a:uFillTx/>
                <a:latin typeface="Arial"/>
              </a:rPr>
              <a:t>She said: add the third check.</a:t>
            </a:r>
            <a:endParaRPr lang="en-US" sz="4000" b="0" u="none" strike="noStrike">
              <a:solidFill>
                <a:srgbClr val="000000"/>
              </a:solidFill>
              <a:effectLst/>
              <a:uFillTx/>
              <a:latin typeface="Arial"/>
            </a:endParaRPr>
          </a:p>
        </p:txBody>
      </p:sp>
      <p:sp>
        <p:nvSpPr>
          <p:cNvPr id="161" name="Rounded Rectangle 5"/>
          <p:cNvSpPr/>
          <p:nvPr/>
        </p:nvSpPr>
        <p:spPr>
          <a:xfrm>
            <a:off x="1828800" y="5532120"/>
            <a:ext cx="2600640" cy="639720"/>
          </a:xfrm>
          <a:prstGeom prst="roundRect">
            <a:avLst>
              <a:gd name="adj" fmla="val 10000"/>
            </a:avLst>
          </a:prstGeom>
          <a:solidFill>
            <a:srgbClr val="EEF3FB"/>
          </a:solidFill>
          <a:ln w="1270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2" name="TextBox 6"/>
          <p:cNvSpPr/>
          <p:nvPr/>
        </p:nvSpPr>
        <p:spPr>
          <a:xfrm>
            <a:off x="1828800" y="5678280"/>
            <a:ext cx="2600640" cy="4111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500" b="1" u="none" spc="159" strike="noStrike">
                <a:solidFill>
                  <a:srgbClr val="4A88E5"/>
                </a:solidFill>
                <a:effectLst/>
                <a:uFillTx/>
                <a:latin typeface="Arial"/>
              </a:rPr>
              <a:t>FIT</a:t>
            </a:r>
            <a:endParaRPr lang="en-US" sz="1500" b="0" u="none" strike="noStrike">
              <a:solidFill>
                <a:srgbClr val="000000"/>
              </a:solidFill>
              <a:effectLst/>
              <a:uFillTx/>
              <a:latin typeface="Arial"/>
            </a:endParaRPr>
          </a:p>
        </p:txBody>
      </p:sp>
      <p:sp>
        <p:nvSpPr>
          <p:cNvPr id="163" name="Rounded Rectangle 7"/>
          <p:cNvSpPr/>
          <p:nvPr/>
        </p:nvSpPr>
        <p:spPr>
          <a:xfrm>
            <a:off x="4795560" y="5532120"/>
            <a:ext cx="2600640" cy="639720"/>
          </a:xfrm>
          <a:prstGeom prst="roundRect">
            <a:avLst>
              <a:gd name="adj" fmla="val 10000"/>
            </a:avLst>
          </a:prstGeom>
          <a:solidFill>
            <a:srgbClr val="EEF3FB"/>
          </a:solidFill>
          <a:ln w="12700">
            <a:solidFill>
              <a:srgbClr val="4A88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4" name="TextBox 8"/>
          <p:cNvSpPr/>
          <p:nvPr/>
        </p:nvSpPr>
        <p:spPr>
          <a:xfrm>
            <a:off x="4795560" y="5678280"/>
            <a:ext cx="2600640" cy="4111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500" b="1" u="none" spc="159" strike="noStrike">
                <a:solidFill>
                  <a:srgbClr val="4A88E5"/>
                </a:solidFill>
                <a:effectLst/>
                <a:uFillTx/>
                <a:latin typeface="Arial"/>
              </a:rPr>
              <a:t>PAPERWORK</a:t>
            </a:r>
            <a:endParaRPr lang="en-US" sz="1500" b="0" u="none" strike="noStrike">
              <a:solidFill>
                <a:srgbClr val="000000"/>
              </a:solidFill>
              <a:effectLst/>
              <a:uFillTx/>
              <a:latin typeface="Arial"/>
            </a:endParaRPr>
          </a:p>
        </p:txBody>
      </p:sp>
      <p:sp>
        <p:nvSpPr>
          <p:cNvPr id="165" name="Rounded Rectangle 9"/>
          <p:cNvSpPr/>
          <p:nvPr/>
        </p:nvSpPr>
        <p:spPr>
          <a:xfrm>
            <a:off x="7761960" y="5532120"/>
            <a:ext cx="2600640" cy="639720"/>
          </a:xfrm>
          <a:prstGeom prst="roundRect">
            <a:avLst>
              <a:gd name="adj" fmla="val 10000"/>
            </a:avLst>
          </a:prstGeom>
          <a:solidFill>
            <a:srgbClr val="FBEFE4"/>
          </a:solidFill>
          <a:ln w="12700">
            <a:solidFill>
              <a:srgbClr val="9A451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6" name="TextBox 10"/>
          <p:cNvSpPr/>
          <p:nvPr/>
        </p:nvSpPr>
        <p:spPr>
          <a:xfrm>
            <a:off x="7761960" y="5678280"/>
            <a:ext cx="2600640" cy="41112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500" b="1" u="none" spc="159" strike="noStrike">
                <a:solidFill>
                  <a:srgbClr val="9A4515"/>
                </a:solidFill>
                <a:effectLst/>
                <a:uFillTx/>
                <a:latin typeface="Arial"/>
              </a:rPr>
              <a:t>SUITABILITY</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B2E"/>
        </a:solidFill>
      </p:bgPr>
    </p:bg>
    <p:spTree>
      <p:nvGrpSpPr>
        <p:cNvPr id="1" name=""/>
        <p:cNvGrpSpPr/>
        <p:nvPr/>
      </p:nvGrpSpPr>
      <p:grpSpPr>
        <a:xfrm>
          <a:off x="0" y="0"/>
          <a:ext cx="0" cy="0"/>
          <a:chOff x="0" y="0"/>
          <a:chExt cx="0" cy="0"/>
        </a:xfrm>
      </p:grpSpPr>
      <p:sp>
        <p:nvSpPr>
          <p:cNvPr id="167" name="TextBox 1"/>
          <p:cNvSpPr/>
          <p:nvPr/>
        </p:nvSpPr>
        <p:spPr>
          <a:xfrm>
            <a:off x="548640" y="411480"/>
            <a:ext cx="2742840" cy="36540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400" b="0" u="none" strike="noStrike">
                <a:solidFill>
                  <a:srgbClr val="F7F5EE"/>
                </a:solidFill>
                <a:effectLst/>
                <a:uFillTx/>
                <a:latin typeface="Arial"/>
              </a:rPr>
              <a:t>glomotec</a:t>
            </a:r>
            <a:endParaRPr lang="en-US" sz="1400" b="0" u="none" strike="noStrike">
              <a:solidFill>
                <a:srgbClr val="FFFFFF"/>
              </a:solidFill>
              <a:effectLst/>
              <a:uFillTx/>
              <a:latin typeface="Arial"/>
            </a:endParaRPr>
          </a:p>
        </p:txBody>
      </p:sp>
      <p:sp>
        <p:nvSpPr>
          <p:cNvPr id="168" name="TextBox 2"/>
          <p:cNvSpPr/>
          <p:nvPr/>
        </p:nvSpPr>
        <p:spPr>
          <a:xfrm>
            <a:off x="548640" y="2423160"/>
            <a:ext cx="1109124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400" b="1" u="none" spc="400" strike="noStrike">
                <a:solidFill>
                  <a:srgbClr val="6B86A6"/>
                </a:solidFill>
                <a:effectLst/>
                <a:uFillTx/>
                <a:latin typeface="Arial"/>
              </a:rPr>
              <a:t>THANK YOU</a:t>
            </a:r>
            <a:endParaRPr lang="en-US" sz="1400" b="0" u="none" strike="noStrike">
              <a:solidFill>
                <a:srgbClr val="FFFFFF"/>
              </a:solidFill>
              <a:effectLst/>
              <a:uFillTx/>
              <a:latin typeface="Arial"/>
            </a:endParaRPr>
          </a:p>
        </p:txBody>
      </p:sp>
      <p:sp>
        <p:nvSpPr>
          <p:cNvPr id="169" name="TextBox 3"/>
          <p:cNvSpPr/>
          <p:nvPr/>
        </p:nvSpPr>
        <p:spPr>
          <a:xfrm>
            <a:off x="548640" y="2926080"/>
            <a:ext cx="11091240" cy="1828440"/>
          </a:xfrm>
          <a:prstGeom prst="rect">
            <a:avLst/>
          </a:prstGeom>
          <a:noFill/>
          <a:ln w="0">
            <a:noFill/>
          </a:ln>
        </p:spPr>
        <p:style>
          <a:lnRef idx="0"/>
          <a:fillRef idx="0"/>
          <a:effectRef idx="0"/>
          <a:fontRef idx="minor"/>
        </p:style>
        <p:txBody>
          <a:bodyPr lIns="0" tIns="0" rIns="0" bIns="0" anchor="ctr">
            <a:spAutoFit/>
          </a:bodyPr>
          <a:p>
            <a:pPr algn="ctr" defTabSz="457200">
              <a:lnSpc>
                <a:spcPct val="115000"/>
              </a:lnSpc>
            </a:pPr>
            <a:r>
              <a:rPr lang="en-US" sz="8800" b="1" u="none" strike="noStrike">
                <a:solidFill>
                  <a:srgbClr val="F7F5EE"/>
                </a:solidFill>
                <a:effectLst/>
                <a:uFillTx/>
                <a:latin typeface="Arial"/>
              </a:rPr>
              <a:t>Questions?</a:t>
            </a:r>
            <a:endParaRPr lang="en-US" sz="8800" b="0" u="none" strike="noStrike">
              <a:solidFill>
                <a:srgbClr val="FFFFFF"/>
              </a:solidFill>
              <a:effectLst/>
              <a:uFillTx/>
              <a:latin typeface="Arial"/>
            </a:endParaRPr>
          </a:p>
        </p:txBody>
      </p:sp>
      <p:sp>
        <p:nvSpPr>
          <p:cNvPr id="170" name="TextBox 4"/>
          <p:cNvSpPr/>
          <p:nvPr/>
        </p:nvSpPr>
        <p:spPr>
          <a:xfrm>
            <a:off x="548640" y="5989320"/>
            <a:ext cx="11091240" cy="365400"/>
          </a:xfrm>
          <a:prstGeom prst="rect">
            <a:avLst/>
          </a:prstGeom>
          <a:noFill/>
          <a:ln w="0">
            <a:noFill/>
          </a:ln>
        </p:spPr>
        <p:style>
          <a:lnRef idx="0"/>
          <a:fillRef idx="0"/>
          <a:effectRef idx="0"/>
          <a:fontRef idx="minor"/>
        </p:style>
        <p:txBody>
          <a:bodyPr lIns="0" tIns="0" rIns="0" bIns="0" anchor="t">
            <a:spAutoFit/>
          </a:bodyPr>
          <a:p>
            <a:pPr algn="ctr" defTabSz="457200">
              <a:lnSpc>
                <a:spcPct val="115000"/>
              </a:lnSpc>
            </a:pPr>
            <a:r>
              <a:rPr lang="en-US" sz="1200" b="0" u="none" strike="noStrike">
                <a:solidFill>
                  <a:srgbClr val="6B86A6"/>
                </a:solidFill>
                <a:effectLst/>
                <a:uFillTx/>
                <a:latin typeface="Arial"/>
              </a:rPr>
              <a:t>Nilyufar Shodmonova  ·  Brief 02  ·  INDEX  ·  github.com/lotirium/glomotec-index</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LibreOffice/26.2.3.2$MacOSX_AARCH64 LibreOffice_project/70e089b17412e4cb7773e41413306b17a2328c34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